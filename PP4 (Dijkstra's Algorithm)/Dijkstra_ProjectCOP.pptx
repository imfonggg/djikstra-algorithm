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0" r:id="rId4"/>
    <p:sldId id="259" r:id="rId5"/>
    <p:sldId id="273" r:id="rId6"/>
    <p:sldId id="274" r:id="rId7"/>
    <p:sldId id="272" r:id="rId8"/>
    <p:sldId id="276" r:id="rId9"/>
    <p:sldId id="277" r:id="rId10"/>
    <p:sldId id="278" r:id="rId11"/>
    <p:sldId id="279" r:id="rId12"/>
    <p:sldId id="280" r:id="rId13"/>
    <p:sldId id="281" r:id="rId14"/>
    <p:sldId id="261" r:id="rId15"/>
    <p:sldId id="266" r:id="rId16"/>
    <p:sldId id="262" r:id="rId17"/>
    <p:sldId id="263" r:id="rId18"/>
    <p:sldId id="275" r:id="rId19"/>
    <p:sldId id="265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B21893F-BF3F-69F2-938C-978F9CA3125B}" v="580" dt="2025-04-19T22:58:23.32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iagrams/_rels/data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image" Target="../media/image11.pn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11.png"/><Relationship Id="rId7" Type="http://schemas.openxmlformats.org/officeDocument/2006/relationships/image" Target="../media/image19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2.svg"/></Relationships>
</file>

<file path=ppt/diagrams/_rels/drawing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image" Target="../media/image11.pn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11.png"/><Relationship Id="rId7" Type="http://schemas.openxmlformats.org/officeDocument/2006/relationships/image" Target="../media/image19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9FB938F-3EC5-46F6-AA5B-11A850CE1E34}" type="doc">
      <dgm:prSet loTypeId="urn:microsoft.com/office/officeart/2005/8/layout/process5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51FDF212-27B8-40E4-B465-AB99910B97A3}">
      <dgm:prSet/>
      <dgm:spPr/>
      <dgm:t>
        <a:bodyPr/>
        <a:lstStyle/>
        <a:p>
          <a:pPr rtl="0"/>
          <a:r>
            <a:rPr lang="en-US">
              <a:solidFill>
                <a:schemeClr val="tx1"/>
              </a:solidFill>
              <a:latin typeface="Calibri"/>
            </a:rPr>
            <a:t>What we aim to achieve with this project.</a:t>
          </a:r>
          <a:endParaRPr lang="en-US">
            <a:solidFill>
              <a:schemeClr val="tx1"/>
            </a:solidFill>
          </a:endParaRPr>
        </a:p>
      </dgm:t>
    </dgm:pt>
    <dgm:pt modelId="{C34A6366-C3E2-4574-827B-9F7E79BC0F4E}" type="parTrans" cxnId="{0B3065B0-27A2-4A8E-B3C9-A1170D046659}">
      <dgm:prSet/>
      <dgm:spPr/>
      <dgm:t>
        <a:bodyPr/>
        <a:lstStyle/>
        <a:p>
          <a:endParaRPr lang="en-US"/>
        </a:p>
      </dgm:t>
    </dgm:pt>
    <dgm:pt modelId="{45445217-BB45-42C6-86D6-8DF2650A4A47}" type="sibTrans" cxnId="{0B3065B0-27A2-4A8E-B3C9-A1170D046659}">
      <dgm:prSet/>
      <dgm:spPr/>
      <dgm:t>
        <a:bodyPr/>
        <a:lstStyle/>
        <a:p>
          <a:endParaRPr lang="en-US"/>
        </a:p>
      </dgm:t>
    </dgm:pt>
    <dgm:pt modelId="{D26BEAF5-980C-4226-B3A9-B788D9298C00}">
      <dgm:prSet/>
      <dgm:spPr/>
      <dgm:t>
        <a:bodyPr/>
        <a:lstStyle/>
        <a:p>
          <a:pPr rtl="0"/>
          <a:r>
            <a:rPr lang="en-US">
              <a:latin typeface="Calibri"/>
            </a:rPr>
            <a:t> </a:t>
          </a:r>
          <a:r>
            <a:rPr lang="en-US">
              <a:solidFill>
                <a:schemeClr val="tx1"/>
              </a:solidFill>
              <a:latin typeface="Calibri"/>
            </a:rPr>
            <a:t>What is Dijkstra's Algorithm</a:t>
          </a:r>
        </a:p>
      </dgm:t>
    </dgm:pt>
    <dgm:pt modelId="{AED6BF34-181E-48D2-8D14-4D48E99E24F5}" type="parTrans" cxnId="{B660F58B-9CCD-483B-9DE5-337ADBCBF970}">
      <dgm:prSet/>
      <dgm:spPr/>
      <dgm:t>
        <a:bodyPr/>
        <a:lstStyle/>
        <a:p>
          <a:endParaRPr lang="en-US"/>
        </a:p>
      </dgm:t>
    </dgm:pt>
    <dgm:pt modelId="{E9463374-37BE-4979-B6DF-2157ADFFFFF8}" type="sibTrans" cxnId="{B660F58B-9CCD-483B-9DE5-337ADBCBF970}">
      <dgm:prSet/>
      <dgm:spPr/>
      <dgm:t>
        <a:bodyPr/>
        <a:lstStyle/>
        <a:p>
          <a:endParaRPr lang="en-US"/>
        </a:p>
      </dgm:t>
    </dgm:pt>
    <dgm:pt modelId="{BCE80D2B-1AB3-4E56-AFBE-998AE6AF0B63}">
      <dgm:prSet/>
      <dgm:spPr/>
      <dgm:t>
        <a:bodyPr/>
        <a:lstStyle/>
        <a:p>
          <a:pPr rtl="0"/>
          <a:r>
            <a:rPr lang="en-US"/>
            <a:t> </a:t>
          </a:r>
          <a:r>
            <a:rPr lang="en-US">
              <a:solidFill>
                <a:srgbClr val="000000"/>
              </a:solidFill>
              <a:latin typeface="Calibri"/>
            </a:rPr>
            <a:t>Quick Explanation from handwritten Example</a:t>
          </a:r>
          <a:endParaRPr lang="en-US">
            <a:solidFill>
              <a:srgbClr val="000000"/>
            </a:solidFill>
          </a:endParaRPr>
        </a:p>
      </dgm:t>
    </dgm:pt>
    <dgm:pt modelId="{313417B9-581D-4A2D-8D48-3F5C55120ADD}" type="parTrans" cxnId="{B34461A2-1537-4AB8-A379-DC03073BFCAE}">
      <dgm:prSet/>
      <dgm:spPr/>
      <dgm:t>
        <a:bodyPr/>
        <a:lstStyle/>
        <a:p>
          <a:endParaRPr lang="en-US"/>
        </a:p>
      </dgm:t>
    </dgm:pt>
    <dgm:pt modelId="{17BB1551-4CB2-4AA6-9010-D48379CEC67B}" type="sibTrans" cxnId="{B34461A2-1537-4AB8-A379-DC03073BFCAE}">
      <dgm:prSet/>
      <dgm:spPr/>
      <dgm:t>
        <a:bodyPr/>
        <a:lstStyle/>
        <a:p>
          <a:endParaRPr lang="en-US"/>
        </a:p>
      </dgm:t>
    </dgm:pt>
    <dgm:pt modelId="{F079ECB5-DAA7-4F09-BB35-99CD2595AA13}">
      <dgm:prSet phldr="0"/>
      <dgm:spPr/>
      <dgm:t>
        <a:bodyPr/>
        <a:lstStyle/>
        <a:p>
          <a:pPr rtl="0"/>
          <a:r>
            <a:rPr lang="en-US">
              <a:solidFill>
                <a:schemeClr val="tx1"/>
              </a:solidFill>
              <a:latin typeface="Calibri"/>
            </a:rPr>
            <a:t>Graph ADT design explanation</a:t>
          </a:r>
        </a:p>
      </dgm:t>
    </dgm:pt>
    <dgm:pt modelId="{E3DDD0AB-0B39-4D64-B1F3-0B705AD25828}" type="parTrans" cxnId="{00A64351-9A63-431F-8B62-777C111AD04A}">
      <dgm:prSet/>
      <dgm:spPr/>
    </dgm:pt>
    <dgm:pt modelId="{1F7F3D41-5573-4766-B17A-1277EF09001A}" type="sibTrans" cxnId="{00A64351-9A63-431F-8B62-777C111AD04A}">
      <dgm:prSet/>
      <dgm:spPr/>
      <dgm:t>
        <a:bodyPr/>
        <a:lstStyle/>
        <a:p>
          <a:endParaRPr lang="en-US"/>
        </a:p>
      </dgm:t>
    </dgm:pt>
    <dgm:pt modelId="{618DC6C0-33EC-4210-A76B-4EB729ABDD49}">
      <dgm:prSet phldr="0"/>
      <dgm:spPr/>
      <dgm:t>
        <a:bodyPr/>
        <a:lstStyle/>
        <a:p>
          <a:r>
            <a:rPr lang="en-US">
              <a:latin typeface="Calibri"/>
            </a:rPr>
            <a:t>Code Structure</a:t>
          </a:r>
        </a:p>
      </dgm:t>
    </dgm:pt>
    <dgm:pt modelId="{129C2D6C-C2E4-4E9D-8F2D-A3B1B702800C}" type="parTrans" cxnId="{B589E1DD-D89B-4613-8F69-9DC510393B31}">
      <dgm:prSet/>
      <dgm:spPr/>
    </dgm:pt>
    <dgm:pt modelId="{14E2F415-3544-43C4-A150-854205B4CE3F}" type="sibTrans" cxnId="{B589E1DD-D89B-4613-8F69-9DC510393B31}">
      <dgm:prSet/>
      <dgm:spPr/>
      <dgm:t>
        <a:bodyPr/>
        <a:lstStyle/>
        <a:p>
          <a:endParaRPr lang="en-US"/>
        </a:p>
      </dgm:t>
    </dgm:pt>
    <dgm:pt modelId="{5A987CBD-900E-4C22-B2B0-E954251A61E9}">
      <dgm:prSet phldr="0"/>
      <dgm:spPr/>
      <dgm:t>
        <a:bodyPr/>
        <a:lstStyle/>
        <a:p>
          <a:pPr rtl="0"/>
          <a:r>
            <a:rPr lang="en-US">
              <a:solidFill>
                <a:schemeClr val="tx1"/>
              </a:solidFill>
              <a:latin typeface="Calibri"/>
            </a:rPr>
            <a:t>Live demo</a:t>
          </a:r>
        </a:p>
      </dgm:t>
    </dgm:pt>
    <dgm:pt modelId="{B0EDF132-EDE9-4843-A395-E7BDDAB05C8E}" type="parTrans" cxnId="{119B47D2-FF55-4523-8F3A-5DB1ECB0B67A}">
      <dgm:prSet/>
      <dgm:spPr/>
    </dgm:pt>
    <dgm:pt modelId="{5040EBFD-9838-4222-98F0-BFE985AC68CB}" type="sibTrans" cxnId="{119B47D2-FF55-4523-8F3A-5DB1ECB0B67A}">
      <dgm:prSet/>
      <dgm:spPr/>
      <dgm:t>
        <a:bodyPr/>
        <a:lstStyle/>
        <a:p>
          <a:endParaRPr lang="en-US"/>
        </a:p>
      </dgm:t>
    </dgm:pt>
    <dgm:pt modelId="{766EA062-48F1-4988-8F75-CF4BC6B7B5B1}">
      <dgm:prSet phldr="0"/>
      <dgm:spPr/>
      <dgm:t>
        <a:bodyPr/>
        <a:lstStyle/>
        <a:p>
          <a:pPr rtl="0"/>
          <a:r>
            <a:rPr lang="en-US">
              <a:solidFill>
                <a:schemeClr val="tx1"/>
              </a:solidFill>
              <a:latin typeface="Calibri"/>
            </a:rPr>
            <a:t>Graph Results/Output</a:t>
          </a:r>
        </a:p>
      </dgm:t>
    </dgm:pt>
    <dgm:pt modelId="{FF2097FC-C6FA-424A-860C-464E7306362D}" type="parTrans" cxnId="{9FC3552B-12A3-4DD5-9FB6-BDF15FC43086}">
      <dgm:prSet/>
      <dgm:spPr/>
    </dgm:pt>
    <dgm:pt modelId="{11291C7F-2A3C-4D3E-8349-5E94A4D095B4}" type="sibTrans" cxnId="{9FC3552B-12A3-4DD5-9FB6-BDF15FC43086}">
      <dgm:prSet/>
      <dgm:spPr/>
      <dgm:t>
        <a:bodyPr/>
        <a:lstStyle/>
        <a:p>
          <a:endParaRPr lang="en-US"/>
        </a:p>
      </dgm:t>
    </dgm:pt>
    <dgm:pt modelId="{FCBB0095-F5FF-4DF4-ADA0-154767919CAB}">
      <dgm:prSet phldr="0"/>
      <dgm:spPr/>
      <dgm:t>
        <a:bodyPr/>
        <a:lstStyle/>
        <a:p>
          <a:pPr rtl="0"/>
          <a:r>
            <a:rPr lang="en-US">
              <a:solidFill>
                <a:schemeClr val="tx1"/>
              </a:solidFill>
              <a:latin typeface="Calibri"/>
            </a:rPr>
            <a:t> Conclusion </a:t>
          </a:r>
        </a:p>
      </dgm:t>
    </dgm:pt>
    <dgm:pt modelId="{5F7BC6B0-8575-4BCD-A125-5E3914B02F19}" type="parTrans" cxnId="{E803162B-4F00-4A1C-8BED-F6550F675E16}">
      <dgm:prSet/>
      <dgm:spPr/>
    </dgm:pt>
    <dgm:pt modelId="{149206D7-8844-4D3A-BB21-2EB82643DA9D}" type="sibTrans" cxnId="{E803162B-4F00-4A1C-8BED-F6550F675E16}">
      <dgm:prSet/>
      <dgm:spPr/>
    </dgm:pt>
    <dgm:pt modelId="{9AEF8BEF-6A95-46DF-B998-01A5CB82096D}" type="pres">
      <dgm:prSet presAssocID="{C9FB938F-3EC5-46F6-AA5B-11A850CE1E34}" presName="diagram" presStyleCnt="0">
        <dgm:presLayoutVars>
          <dgm:dir/>
          <dgm:resizeHandles val="exact"/>
        </dgm:presLayoutVars>
      </dgm:prSet>
      <dgm:spPr/>
    </dgm:pt>
    <dgm:pt modelId="{2E346E8E-5D65-4D1D-A612-3BABA60642D3}" type="pres">
      <dgm:prSet presAssocID="{51FDF212-27B8-40E4-B465-AB99910B97A3}" presName="node" presStyleLbl="node1" presStyleIdx="0" presStyleCnt="8">
        <dgm:presLayoutVars>
          <dgm:bulletEnabled val="1"/>
        </dgm:presLayoutVars>
      </dgm:prSet>
      <dgm:spPr/>
    </dgm:pt>
    <dgm:pt modelId="{EAC09FAE-AD1A-4F6B-BA6A-37EE1D9734E3}" type="pres">
      <dgm:prSet presAssocID="{45445217-BB45-42C6-86D6-8DF2650A4A47}" presName="sibTrans" presStyleLbl="sibTrans2D1" presStyleIdx="0" presStyleCnt="7"/>
      <dgm:spPr/>
    </dgm:pt>
    <dgm:pt modelId="{F9453AA9-6C1B-4D14-B2AD-5BE2215FEF96}" type="pres">
      <dgm:prSet presAssocID="{45445217-BB45-42C6-86D6-8DF2650A4A47}" presName="connectorText" presStyleLbl="sibTrans2D1" presStyleIdx="0" presStyleCnt="7"/>
      <dgm:spPr/>
    </dgm:pt>
    <dgm:pt modelId="{E40DC5C5-13CC-4172-9D9F-E197BC0772CB}" type="pres">
      <dgm:prSet presAssocID="{F079ECB5-DAA7-4F09-BB35-99CD2595AA13}" presName="node" presStyleLbl="node1" presStyleIdx="1" presStyleCnt="8">
        <dgm:presLayoutVars>
          <dgm:bulletEnabled val="1"/>
        </dgm:presLayoutVars>
      </dgm:prSet>
      <dgm:spPr/>
    </dgm:pt>
    <dgm:pt modelId="{CDEC884C-30A1-4DC1-924E-D614C8E270C4}" type="pres">
      <dgm:prSet presAssocID="{1F7F3D41-5573-4766-B17A-1277EF09001A}" presName="sibTrans" presStyleLbl="sibTrans2D1" presStyleIdx="1" presStyleCnt="7"/>
      <dgm:spPr/>
    </dgm:pt>
    <dgm:pt modelId="{9E738E1C-9236-459C-88F5-6513C90CB648}" type="pres">
      <dgm:prSet presAssocID="{1F7F3D41-5573-4766-B17A-1277EF09001A}" presName="connectorText" presStyleLbl="sibTrans2D1" presStyleIdx="1" presStyleCnt="7"/>
      <dgm:spPr/>
    </dgm:pt>
    <dgm:pt modelId="{4452C908-BF21-473C-944F-40892CAC885E}" type="pres">
      <dgm:prSet presAssocID="{D26BEAF5-980C-4226-B3A9-B788D9298C00}" presName="node" presStyleLbl="node1" presStyleIdx="2" presStyleCnt="8">
        <dgm:presLayoutVars>
          <dgm:bulletEnabled val="1"/>
        </dgm:presLayoutVars>
      </dgm:prSet>
      <dgm:spPr/>
    </dgm:pt>
    <dgm:pt modelId="{6D902F95-DDF4-4AF6-BD13-34F5443E6A3C}" type="pres">
      <dgm:prSet presAssocID="{E9463374-37BE-4979-B6DF-2157ADFFFFF8}" presName="sibTrans" presStyleLbl="sibTrans2D1" presStyleIdx="2" presStyleCnt="7"/>
      <dgm:spPr/>
    </dgm:pt>
    <dgm:pt modelId="{070D9E03-FDDE-4B4B-B15F-903AC5CD358D}" type="pres">
      <dgm:prSet presAssocID="{E9463374-37BE-4979-B6DF-2157ADFFFFF8}" presName="connectorText" presStyleLbl="sibTrans2D1" presStyleIdx="2" presStyleCnt="7"/>
      <dgm:spPr/>
    </dgm:pt>
    <dgm:pt modelId="{A2623DA6-3717-47AF-AF40-F391A93E4F69}" type="pres">
      <dgm:prSet presAssocID="{BCE80D2B-1AB3-4E56-AFBE-998AE6AF0B63}" presName="node" presStyleLbl="node1" presStyleIdx="3" presStyleCnt="8">
        <dgm:presLayoutVars>
          <dgm:bulletEnabled val="1"/>
        </dgm:presLayoutVars>
      </dgm:prSet>
      <dgm:spPr/>
    </dgm:pt>
    <dgm:pt modelId="{759B5412-2ADC-42B4-BC97-1B78075AE833}" type="pres">
      <dgm:prSet presAssocID="{17BB1551-4CB2-4AA6-9010-D48379CEC67B}" presName="sibTrans" presStyleLbl="sibTrans2D1" presStyleIdx="3" presStyleCnt="7"/>
      <dgm:spPr/>
    </dgm:pt>
    <dgm:pt modelId="{0AF1CD6D-103A-4A96-8101-A654D8EA0747}" type="pres">
      <dgm:prSet presAssocID="{17BB1551-4CB2-4AA6-9010-D48379CEC67B}" presName="connectorText" presStyleLbl="sibTrans2D1" presStyleIdx="3" presStyleCnt="7"/>
      <dgm:spPr/>
    </dgm:pt>
    <dgm:pt modelId="{3FED565F-42FC-4FD7-9EAF-18DD1D82D379}" type="pres">
      <dgm:prSet presAssocID="{618DC6C0-33EC-4210-A76B-4EB729ABDD49}" presName="node" presStyleLbl="node1" presStyleIdx="4" presStyleCnt="8">
        <dgm:presLayoutVars>
          <dgm:bulletEnabled val="1"/>
        </dgm:presLayoutVars>
      </dgm:prSet>
      <dgm:spPr/>
    </dgm:pt>
    <dgm:pt modelId="{DE42E303-5749-4FA8-A582-062BA17D8C8D}" type="pres">
      <dgm:prSet presAssocID="{14E2F415-3544-43C4-A150-854205B4CE3F}" presName="sibTrans" presStyleLbl="sibTrans2D1" presStyleIdx="4" presStyleCnt="7"/>
      <dgm:spPr/>
    </dgm:pt>
    <dgm:pt modelId="{0A4DB47C-8FF5-4063-B374-03199F16B5B9}" type="pres">
      <dgm:prSet presAssocID="{14E2F415-3544-43C4-A150-854205B4CE3F}" presName="connectorText" presStyleLbl="sibTrans2D1" presStyleIdx="4" presStyleCnt="7"/>
      <dgm:spPr/>
    </dgm:pt>
    <dgm:pt modelId="{2C228891-F29C-4ABF-B949-5BDB3E58DA0D}" type="pres">
      <dgm:prSet presAssocID="{5A987CBD-900E-4C22-B2B0-E954251A61E9}" presName="node" presStyleLbl="node1" presStyleIdx="5" presStyleCnt="8">
        <dgm:presLayoutVars>
          <dgm:bulletEnabled val="1"/>
        </dgm:presLayoutVars>
      </dgm:prSet>
      <dgm:spPr/>
    </dgm:pt>
    <dgm:pt modelId="{B42B244F-7173-4F35-99B0-EE4D387ABB8C}" type="pres">
      <dgm:prSet presAssocID="{5040EBFD-9838-4222-98F0-BFE985AC68CB}" presName="sibTrans" presStyleLbl="sibTrans2D1" presStyleIdx="5" presStyleCnt="7"/>
      <dgm:spPr/>
    </dgm:pt>
    <dgm:pt modelId="{F1CD981C-142C-4512-9E5A-B129A11B520F}" type="pres">
      <dgm:prSet presAssocID="{5040EBFD-9838-4222-98F0-BFE985AC68CB}" presName="connectorText" presStyleLbl="sibTrans2D1" presStyleIdx="5" presStyleCnt="7"/>
      <dgm:spPr/>
    </dgm:pt>
    <dgm:pt modelId="{8330E03A-B4C2-433C-8CF2-FEFC4264131C}" type="pres">
      <dgm:prSet presAssocID="{766EA062-48F1-4988-8F75-CF4BC6B7B5B1}" presName="node" presStyleLbl="node1" presStyleIdx="6" presStyleCnt="8">
        <dgm:presLayoutVars>
          <dgm:bulletEnabled val="1"/>
        </dgm:presLayoutVars>
      </dgm:prSet>
      <dgm:spPr/>
    </dgm:pt>
    <dgm:pt modelId="{C1EEC528-CCC8-4176-8699-2E1BA8459A5F}" type="pres">
      <dgm:prSet presAssocID="{11291C7F-2A3C-4D3E-8349-5E94A4D095B4}" presName="sibTrans" presStyleLbl="sibTrans2D1" presStyleIdx="6" presStyleCnt="7"/>
      <dgm:spPr/>
    </dgm:pt>
    <dgm:pt modelId="{CA787848-E07F-4BEB-B89D-942C43D52674}" type="pres">
      <dgm:prSet presAssocID="{11291C7F-2A3C-4D3E-8349-5E94A4D095B4}" presName="connectorText" presStyleLbl="sibTrans2D1" presStyleIdx="6" presStyleCnt="7"/>
      <dgm:spPr/>
    </dgm:pt>
    <dgm:pt modelId="{000DD56B-2743-4459-B6FB-8481B782FB1F}" type="pres">
      <dgm:prSet presAssocID="{FCBB0095-F5FF-4DF4-ADA0-154767919CAB}" presName="node" presStyleLbl="node1" presStyleIdx="7" presStyleCnt="8">
        <dgm:presLayoutVars>
          <dgm:bulletEnabled val="1"/>
        </dgm:presLayoutVars>
      </dgm:prSet>
      <dgm:spPr/>
    </dgm:pt>
  </dgm:ptLst>
  <dgm:cxnLst>
    <dgm:cxn modelId="{15FE9C0B-C72C-4713-B672-576E028DD411}" type="presOf" srcId="{1F7F3D41-5573-4766-B17A-1277EF09001A}" destId="{CDEC884C-30A1-4DC1-924E-D614C8E270C4}" srcOrd="0" destOrd="0" presId="urn:microsoft.com/office/officeart/2005/8/layout/process5"/>
    <dgm:cxn modelId="{1EA03825-FC68-4110-9C55-EF84D3A8ED13}" type="presOf" srcId="{1F7F3D41-5573-4766-B17A-1277EF09001A}" destId="{9E738E1C-9236-459C-88F5-6513C90CB648}" srcOrd="1" destOrd="0" presId="urn:microsoft.com/office/officeart/2005/8/layout/process5"/>
    <dgm:cxn modelId="{E803162B-4F00-4A1C-8BED-F6550F675E16}" srcId="{C9FB938F-3EC5-46F6-AA5B-11A850CE1E34}" destId="{FCBB0095-F5FF-4DF4-ADA0-154767919CAB}" srcOrd="7" destOrd="0" parTransId="{5F7BC6B0-8575-4BCD-A125-5E3914B02F19}" sibTransId="{149206D7-8844-4D3A-BB21-2EB82643DA9D}"/>
    <dgm:cxn modelId="{9FC3552B-12A3-4DD5-9FB6-BDF15FC43086}" srcId="{C9FB938F-3EC5-46F6-AA5B-11A850CE1E34}" destId="{766EA062-48F1-4988-8F75-CF4BC6B7B5B1}" srcOrd="6" destOrd="0" parTransId="{FF2097FC-C6FA-424A-860C-464E7306362D}" sibTransId="{11291C7F-2A3C-4D3E-8349-5E94A4D095B4}"/>
    <dgm:cxn modelId="{DF48E032-9CCB-4B1A-8CF7-6D4BB192FDA9}" type="presOf" srcId="{618DC6C0-33EC-4210-A76B-4EB729ABDD49}" destId="{3FED565F-42FC-4FD7-9EAF-18DD1D82D379}" srcOrd="0" destOrd="0" presId="urn:microsoft.com/office/officeart/2005/8/layout/process5"/>
    <dgm:cxn modelId="{C1B97D34-71CC-4F7C-A9C6-C28431895EC8}" type="presOf" srcId="{45445217-BB45-42C6-86D6-8DF2650A4A47}" destId="{F9453AA9-6C1B-4D14-B2AD-5BE2215FEF96}" srcOrd="1" destOrd="0" presId="urn:microsoft.com/office/officeart/2005/8/layout/process5"/>
    <dgm:cxn modelId="{35070B3D-4252-4A6A-9444-23053B413C08}" type="presOf" srcId="{14E2F415-3544-43C4-A150-854205B4CE3F}" destId="{0A4DB47C-8FF5-4063-B374-03199F16B5B9}" srcOrd="1" destOrd="0" presId="urn:microsoft.com/office/officeart/2005/8/layout/process5"/>
    <dgm:cxn modelId="{87744E42-F464-4E18-993F-6BF3D66624EE}" type="presOf" srcId="{51FDF212-27B8-40E4-B465-AB99910B97A3}" destId="{2E346E8E-5D65-4D1D-A612-3BABA60642D3}" srcOrd="0" destOrd="0" presId="urn:microsoft.com/office/officeart/2005/8/layout/process5"/>
    <dgm:cxn modelId="{69DB7D62-27EB-472E-88F2-6AF5089E08B8}" type="presOf" srcId="{F079ECB5-DAA7-4F09-BB35-99CD2595AA13}" destId="{E40DC5C5-13CC-4172-9D9F-E197BC0772CB}" srcOrd="0" destOrd="0" presId="urn:microsoft.com/office/officeart/2005/8/layout/process5"/>
    <dgm:cxn modelId="{00A64351-9A63-431F-8B62-777C111AD04A}" srcId="{C9FB938F-3EC5-46F6-AA5B-11A850CE1E34}" destId="{F079ECB5-DAA7-4F09-BB35-99CD2595AA13}" srcOrd="1" destOrd="0" parTransId="{E3DDD0AB-0B39-4D64-B1F3-0B705AD25828}" sibTransId="{1F7F3D41-5573-4766-B17A-1277EF09001A}"/>
    <dgm:cxn modelId="{91BFFB5A-73E3-43A2-AF62-620EADDF6C2D}" type="presOf" srcId="{D26BEAF5-980C-4226-B3A9-B788D9298C00}" destId="{4452C908-BF21-473C-944F-40892CAC885E}" srcOrd="0" destOrd="0" presId="urn:microsoft.com/office/officeart/2005/8/layout/process5"/>
    <dgm:cxn modelId="{41B7317B-428D-4C33-975E-56F3E50863A8}" type="presOf" srcId="{11291C7F-2A3C-4D3E-8349-5E94A4D095B4}" destId="{C1EEC528-CCC8-4176-8699-2E1BA8459A5F}" srcOrd="0" destOrd="0" presId="urn:microsoft.com/office/officeart/2005/8/layout/process5"/>
    <dgm:cxn modelId="{C8F2BC80-7C68-4021-8C0E-94CBC0412106}" type="presOf" srcId="{C9FB938F-3EC5-46F6-AA5B-11A850CE1E34}" destId="{9AEF8BEF-6A95-46DF-B998-01A5CB82096D}" srcOrd="0" destOrd="0" presId="urn:microsoft.com/office/officeart/2005/8/layout/process5"/>
    <dgm:cxn modelId="{51727A8B-14CF-4687-98BB-A619532D4FDC}" type="presOf" srcId="{5A987CBD-900E-4C22-B2B0-E954251A61E9}" destId="{2C228891-F29C-4ABF-B949-5BDB3E58DA0D}" srcOrd="0" destOrd="0" presId="urn:microsoft.com/office/officeart/2005/8/layout/process5"/>
    <dgm:cxn modelId="{B660F58B-9CCD-483B-9DE5-337ADBCBF970}" srcId="{C9FB938F-3EC5-46F6-AA5B-11A850CE1E34}" destId="{D26BEAF5-980C-4226-B3A9-B788D9298C00}" srcOrd="2" destOrd="0" parTransId="{AED6BF34-181E-48D2-8D14-4D48E99E24F5}" sibTransId="{E9463374-37BE-4979-B6DF-2157ADFFFFF8}"/>
    <dgm:cxn modelId="{5E2D5F8C-3ADE-4A81-9EE5-04D464688181}" type="presOf" srcId="{E9463374-37BE-4979-B6DF-2157ADFFFFF8}" destId="{6D902F95-DDF4-4AF6-BD13-34F5443E6A3C}" srcOrd="0" destOrd="0" presId="urn:microsoft.com/office/officeart/2005/8/layout/process5"/>
    <dgm:cxn modelId="{B9D9AA91-0D55-40EE-894A-6201F0BDB48B}" type="presOf" srcId="{BCE80D2B-1AB3-4E56-AFBE-998AE6AF0B63}" destId="{A2623DA6-3717-47AF-AF40-F391A93E4F69}" srcOrd="0" destOrd="0" presId="urn:microsoft.com/office/officeart/2005/8/layout/process5"/>
    <dgm:cxn modelId="{8D0D569E-21EC-4990-A5E4-778CB39B7954}" type="presOf" srcId="{E9463374-37BE-4979-B6DF-2157ADFFFFF8}" destId="{070D9E03-FDDE-4B4B-B15F-903AC5CD358D}" srcOrd="1" destOrd="0" presId="urn:microsoft.com/office/officeart/2005/8/layout/process5"/>
    <dgm:cxn modelId="{996216A1-2D85-489B-9854-F7B0B1682AEA}" type="presOf" srcId="{5040EBFD-9838-4222-98F0-BFE985AC68CB}" destId="{F1CD981C-142C-4512-9E5A-B129A11B520F}" srcOrd="1" destOrd="0" presId="urn:microsoft.com/office/officeart/2005/8/layout/process5"/>
    <dgm:cxn modelId="{B34461A2-1537-4AB8-A379-DC03073BFCAE}" srcId="{C9FB938F-3EC5-46F6-AA5B-11A850CE1E34}" destId="{BCE80D2B-1AB3-4E56-AFBE-998AE6AF0B63}" srcOrd="3" destOrd="0" parTransId="{313417B9-581D-4A2D-8D48-3F5C55120ADD}" sibTransId="{17BB1551-4CB2-4AA6-9010-D48379CEC67B}"/>
    <dgm:cxn modelId="{3F0BB5AB-CA9B-4E1C-9373-36AF394433C7}" type="presOf" srcId="{766EA062-48F1-4988-8F75-CF4BC6B7B5B1}" destId="{8330E03A-B4C2-433C-8CF2-FEFC4264131C}" srcOrd="0" destOrd="0" presId="urn:microsoft.com/office/officeart/2005/8/layout/process5"/>
    <dgm:cxn modelId="{EA9797AC-2FF9-4F44-9A48-1457A5BBA3F2}" type="presOf" srcId="{17BB1551-4CB2-4AA6-9010-D48379CEC67B}" destId="{759B5412-2ADC-42B4-BC97-1B78075AE833}" srcOrd="0" destOrd="0" presId="urn:microsoft.com/office/officeart/2005/8/layout/process5"/>
    <dgm:cxn modelId="{0B3065B0-27A2-4A8E-B3C9-A1170D046659}" srcId="{C9FB938F-3EC5-46F6-AA5B-11A850CE1E34}" destId="{51FDF212-27B8-40E4-B465-AB99910B97A3}" srcOrd="0" destOrd="0" parTransId="{C34A6366-C3E2-4574-827B-9F7E79BC0F4E}" sibTransId="{45445217-BB45-42C6-86D6-8DF2650A4A47}"/>
    <dgm:cxn modelId="{C48417BF-D759-4015-8791-D67BD943C0E9}" type="presOf" srcId="{17BB1551-4CB2-4AA6-9010-D48379CEC67B}" destId="{0AF1CD6D-103A-4A96-8101-A654D8EA0747}" srcOrd="1" destOrd="0" presId="urn:microsoft.com/office/officeart/2005/8/layout/process5"/>
    <dgm:cxn modelId="{1A67FFC3-A946-43E4-835C-34FCE367B695}" type="presOf" srcId="{45445217-BB45-42C6-86D6-8DF2650A4A47}" destId="{EAC09FAE-AD1A-4F6B-BA6A-37EE1D9734E3}" srcOrd="0" destOrd="0" presId="urn:microsoft.com/office/officeart/2005/8/layout/process5"/>
    <dgm:cxn modelId="{119B47D2-FF55-4523-8F3A-5DB1ECB0B67A}" srcId="{C9FB938F-3EC5-46F6-AA5B-11A850CE1E34}" destId="{5A987CBD-900E-4C22-B2B0-E954251A61E9}" srcOrd="5" destOrd="0" parTransId="{B0EDF132-EDE9-4843-A395-E7BDDAB05C8E}" sibTransId="{5040EBFD-9838-4222-98F0-BFE985AC68CB}"/>
    <dgm:cxn modelId="{85BE91DA-636A-47D5-8B06-8348DBEEAC1A}" type="presOf" srcId="{11291C7F-2A3C-4D3E-8349-5E94A4D095B4}" destId="{CA787848-E07F-4BEB-B89D-942C43D52674}" srcOrd="1" destOrd="0" presId="urn:microsoft.com/office/officeart/2005/8/layout/process5"/>
    <dgm:cxn modelId="{B589E1DD-D89B-4613-8F69-9DC510393B31}" srcId="{C9FB938F-3EC5-46F6-AA5B-11A850CE1E34}" destId="{618DC6C0-33EC-4210-A76B-4EB729ABDD49}" srcOrd="4" destOrd="0" parTransId="{129C2D6C-C2E4-4E9D-8F2D-A3B1B702800C}" sibTransId="{14E2F415-3544-43C4-A150-854205B4CE3F}"/>
    <dgm:cxn modelId="{C3953CF0-E189-4BBF-942A-B6DAB646BD32}" type="presOf" srcId="{5040EBFD-9838-4222-98F0-BFE985AC68CB}" destId="{B42B244F-7173-4F35-99B0-EE4D387ABB8C}" srcOrd="0" destOrd="0" presId="urn:microsoft.com/office/officeart/2005/8/layout/process5"/>
    <dgm:cxn modelId="{230FD6F0-E681-4118-80D1-76AE4FF48706}" type="presOf" srcId="{14E2F415-3544-43C4-A150-854205B4CE3F}" destId="{DE42E303-5749-4FA8-A582-062BA17D8C8D}" srcOrd="0" destOrd="0" presId="urn:microsoft.com/office/officeart/2005/8/layout/process5"/>
    <dgm:cxn modelId="{097D83FB-325A-48E0-BD94-8CD37C9ED06C}" type="presOf" srcId="{FCBB0095-F5FF-4DF4-ADA0-154767919CAB}" destId="{000DD56B-2743-4459-B6FB-8481B782FB1F}" srcOrd="0" destOrd="0" presId="urn:microsoft.com/office/officeart/2005/8/layout/process5"/>
    <dgm:cxn modelId="{5A74361D-3C9E-4DFE-8BDF-A734FD4F7BFB}" type="presParOf" srcId="{9AEF8BEF-6A95-46DF-B998-01A5CB82096D}" destId="{2E346E8E-5D65-4D1D-A612-3BABA60642D3}" srcOrd="0" destOrd="0" presId="urn:microsoft.com/office/officeart/2005/8/layout/process5"/>
    <dgm:cxn modelId="{863A6BDD-9807-4464-A838-1DBC52613B29}" type="presParOf" srcId="{9AEF8BEF-6A95-46DF-B998-01A5CB82096D}" destId="{EAC09FAE-AD1A-4F6B-BA6A-37EE1D9734E3}" srcOrd="1" destOrd="0" presId="urn:microsoft.com/office/officeart/2005/8/layout/process5"/>
    <dgm:cxn modelId="{B4C3AD0A-0EDD-4BE6-904C-CCDE08DC9C1C}" type="presParOf" srcId="{EAC09FAE-AD1A-4F6B-BA6A-37EE1D9734E3}" destId="{F9453AA9-6C1B-4D14-B2AD-5BE2215FEF96}" srcOrd="0" destOrd="0" presId="urn:microsoft.com/office/officeart/2005/8/layout/process5"/>
    <dgm:cxn modelId="{120EE835-C4B4-4C85-9C62-C2E8AD8B7FE5}" type="presParOf" srcId="{9AEF8BEF-6A95-46DF-B998-01A5CB82096D}" destId="{E40DC5C5-13CC-4172-9D9F-E197BC0772CB}" srcOrd="2" destOrd="0" presId="urn:microsoft.com/office/officeart/2005/8/layout/process5"/>
    <dgm:cxn modelId="{C06CC048-2E37-4510-8782-EA07D395C9DB}" type="presParOf" srcId="{9AEF8BEF-6A95-46DF-B998-01A5CB82096D}" destId="{CDEC884C-30A1-4DC1-924E-D614C8E270C4}" srcOrd="3" destOrd="0" presId="urn:microsoft.com/office/officeart/2005/8/layout/process5"/>
    <dgm:cxn modelId="{6E9E0EE9-97A7-462F-9725-EDC0638CF6D4}" type="presParOf" srcId="{CDEC884C-30A1-4DC1-924E-D614C8E270C4}" destId="{9E738E1C-9236-459C-88F5-6513C90CB648}" srcOrd="0" destOrd="0" presId="urn:microsoft.com/office/officeart/2005/8/layout/process5"/>
    <dgm:cxn modelId="{3434E56A-B678-455F-94B8-74B38195AF4D}" type="presParOf" srcId="{9AEF8BEF-6A95-46DF-B998-01A5CB82096D}" destId="{4452C908-BF21-473C-944F-40892CAC885E}" srcOrd="4" destOrd="0" presId="urn:microsoft.com/office/officeart/2005/8/layout/process5"/>
    <dgm:cxn modelId="{E6648A10-2733-4959-9B5D-4F7201752EA1}" type="presParOf" srcId="{9AEF8BEF-6A95-46DF-B998-01A5CB82096D}" destId="{6D902F95-DDF4-4AF6-BD13-34F5443E6A3C}" srcOrd="5" destOrd="0" presId="urn:microsoft.com/office/officeart/2005/8/layout/process5"/>
    <dgm:cxn modelId="{DB2102B9-F032-4FD1-82AB-FEF735906370}" type="presParOf" srcId="{6D902F95-DDF4-4AF6-BD13-34F5443E6A3C}" destId="{070D9E03-FDDE-4B4B-B15F-903AC5CD358D}" srcOrd="0" destOrd="0" presId="urn:microsoft.com/office/officeart/2005/8/layout/process5"/>
    <dgm:cxn modelId="{E2FF70F7-8C5E-465D-9D24-1FC382604B32}" type="presParOf" srcId="{9AEF8BEF-6A95-46DF-B998-01A5CB82096D}" destId="{A2623DA6-3717-47AF-AF40-F391A93E4F69}" srcOrd="6" destOrd="0" presId="urn:microsoft.com/office/officeart/2005/8/layout/process5"/>
    <dgm:cxn modelId="{00C108F3-6953-4098-BBB4-E7E920545575}" type="presParOf" srcId="{9AEF8BEF-6A95-46DF-B998-01A5CB82096D}" destId="{759B5412-2ADC-42B4-BC97-1B78075AE833}" srcOrd="7" destOrd="0" presId="urn:microsoft.com/office/officeart/2005/8/layout/process5"/>
    <dgm:cxn modelId="{92D1973E-1ADA-4EE9-978D-401E26055C1E}" type="presParOf" srcId="{759B5412-2ADC-42B4-BC97-1B78075AE833}" destId="{0AF1CD6D-103A-4A96-8101-A654D8EA0747}" srcOrd="0" destOrd="0" presId="urn:microsoft.com/office/officeart/2005/8/layout/process5"/>
    <dgm:cxn modelId="{823C2AD5-2F4A-467D-B67D-B01DB1958B23}" type="presParOf" srcId="{9AEF8BEF-6A95-46DF-B998-01A5CB82096D}" destId="{3FED565F-42FC-4FD7-9EAF-18DD1D82D379}" srcOrd="8" destOrd="0" presId="urn:microsoft.com/office/officeart/2005/8/layout/process5"/>
    <dgm:cxn modelId="{E06D51F1-2608-431C-903D-2E0FB81CCB3D}" type="presParOf" srcId="{9AEF8BEF-6A95-46DF-B998-01A5CB82096D}" destId="{DE42E303-5749-4FA8-A582-062BA17D8C8D}" srcOrd="9" destOrd="0" presId="urn:microsoft.com/office/officeart/2005/8/layout/process5"/>
    <dgm:cxn modelId="{686534A1-4821-4FDE-AD7A-4BB8CDD45B94}" type="presParOf" srcId="{DE42E303-5749-4FA8-A582-062BA17D8C8D}" destId="{0A4DB47C-8FF5-4063-B374-03199F16B5B9}" srcOrd="0" destOrd="0" presId="urn:microsoft.com/office/officeart/2005/8/layout/process5"/>
    <dgm:cxn modelId="{983FFCDA-0893-4951-A56B-891A49F6C4B5}" type="presParOf" srcId="{9AEF8BEF-6A95-46DF-B998-01A5CB82096D}" destId="{2C228891-F29C-4ABF-B949-5BDB3E58DA0D}" srcOrd="10" destOrd="0" presId="urn:microsoft.com/office/officeart/2005/8/layout/process5"/>
    <dgm:cxn modelId="{2188106B-5D44-4B92-90A8-57F7F1B0B370}" type="presParOf" srcId="{9AEF8BEF-6A95-46DF-B998-01A5CB82096D}" destId="{B42B244F-7173-4F35-99B0-EE4D387ABB8C}" srcOrd="11" destOrd="0" presId="urn:microsoft.com/office/officeart/2005/8/layout/process5"/>
    <dgm:cxn modelId="{D18C18FB-9A1E-4452-B888-461627B09035}" type="presParOf" srcId="{B42B244F-7173-4F35-99B0-EE4D387ABB8C}" destId="{F1CD981C-142C-4512-9E5A-B129A11B520F}" srcOrd="0" destOrd="0" presId="urn:microsoft.com/office/officeart/2005/8/layout/process5"/>
    <dgm:cxn modelId="{F581C5D9-7D4E-4095-AAD2-FD8EEF4EDF5C}" type="presParOf" srcId="{9AEF8BEF-6A95-46DF-B998-01A5CB82096D}" destId="{8330E03A-B4C2-433C-8CF2-FEFC4264131C}" srcOrd="12" destOrd="0" presId="urn:microsoft.com/office/officeart/2005/8/layout/process5"/>
    <dgm:cxn modelId="{65E8B458-D9BD-44A3-A0F1-C1D5A62E66B5}" type="presParOf" srcId="{9AEF8BEF-6A95-46DF-B998-01A5CB82096D}" destId="{C1EEC528-CCC8-4176-8699-2E1BA8459A5F}" srcOrd="13" destOrd="0" presId="urn:microsoft.com/office/officeart/2005/8/layout/process5"/>
    <dgm:cxn modelId="{0A70CC82-3BEA-461A-A40F-AAEA934CA58E}" type="presParOf" srcId="{C1EEC528-CCC8-4176-8699-2E1BA8459A5F}" destId="{CA787848-E07F-4BEB-B89D-942C43D52674}" srcOrd="0" destOrd="0" presId="urn:microsoft.com/office/officeart/2005/8/layout/process5"/>
    <dgm:cxn modelId="{0CDCDDA0-A4F4-4BF9-9573-8A74ED2C0EA6}" type="presParOf" srcId="{9AEF8BEF-6A95-46DF-B998-01A5CB82096D}" destId="{000DD56B-2743-4459-B6FB-8481B782FB1F}" srcOrd="14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FCA9DFB-9974-4CB9-B65B-8C4220DB33F3}" type="doc">
      <dgm:prSet loTypeId="urn:microsoft.com/office/officeart/2005/8/layout/vProcess5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B86608C5-96E6-4180-959A-B0EE0DC27415}">
      <dgm:prSet/>
      <dgm:spPr/>
      <dgm:t>
        <a:bodyPr/>
        <a:lstStyle/>
        <a:p>
          <a:r>
            <a:rPr lang="en-US"/>
            <a:t>A graph search algorithm that finds the shortest path from a starting vertex to all other vertices in a weighted graph.</a:t>
          </a:r>
        </a:p>
      </dgm:t>
    </dgm:pt>
    <dgm:pt modelId="{EDB97BDA-6EFE-4ABC-8170-84336AD3E9FD}" type="parTrans" cxnId="{70AEDE7E-E5E0-4C84-8C16-2D8B65EDAB28}">
      <dgm:prSet/>
      <dgm:spPr/>
      <dgm:t>
        <a:bodyPr/>
        <a:lstStyle/>
        <a:p>
          <a:endParaRPr lang="en-US"/>
        </a:p>
      </dgm:t>
    </dgm:pt>
    <dgm:pt modelId="{A3E6B2AD-CA56-4978-BC63-5DC51F060BBF}" type="sibTrans" cxnId="{70AEDE7E-E5E0-4C84-8C16-2D8B65EDAB28}">
      <dgm:prSet/>
      <dgm:spPr/>
      <dgm:t>
        <a:bodyPr/>
        <a:lstStyle/>
        <a:p>
          <a:endParaRPr lang="en-US"/>
        </a:p>
      </dgm:t>
    </dgm:pt>
    <dgm:pt modelId="{84B93B6C-72BA-424E-9D0B-401BCBE3A051}">
      <dgm:prSet/>
      <dgm:spPr/>
      <dgm:t>
        <a:bodyPr/>
        <a:lstStyle/>
        <a:p>
          <a:r>
            <a:rPr lang="en-US"/>
            <a:t>Works only with non-negative edge weights.</a:t>
          </a:r>
        </a:p>
      </dgm:t>
    </dgm:pt>
    <dgm:pt modelId="{43067D71-282E-438A-9748-839C3AE097FB}" type="parTrans" cxnId="{20B331C4-26DC-4749-9930-53EC48D8A44D}">
      <dgm:prSet/>
      <dgm:spPr/>
      <dgm:t>
        <a:bodyPr/>
        <a:lstStyle/>
        <a:p>
          <a:endParaRPr lang="en-US"/>
        </a:p>
      </dgm:t>
    </dgm:pt>
    <dgm:pt modelId="{0D519FD2-0073-41D6-A421-15DA44202798}" type="sibTrans" cxnId="{20B331C4-26DC-4749-9930-53EC48D8A44D}">
      <dgm:prSet/>
      <dgm:spPr/>
      <dgm:t>
        <a:bodyPr/>
        <a:lstStyle/>
        <a:p>
          <a:endParaRPr lang="en-US"/>
        </a:p>
      </dgm:t>
    </dgm:pt>
    <dgm:pt modelId="{97E85B04-789A-46D4-92C7-B96C31A3E619}">
      <dgm:prSet/>
      <dgm:spPr/>
      <dgm:t>
        <a:bodyPr/>
        <a:lstStyle/>
        <a:p>
          <a:r>
            <a:rPr lang="en-US"/>
            <a:t>Uses a </a:t>
          </a:r>
          <a:r>
            <a:rPr lang="en-US" b="1"/>
            <a:t>priority queue</a:t>
          </a:r>
          <a:r>
            <a:rPr lang="en-US"/>
            <a:t> to explore vertices with the </a:t>
          </a:r>
          <a:r>
            <a:rPr lang="en-US" b="1"/>
            <a:t>lowest known distance</a:t>
          </a:r>
          <a:r>
            <a:rPr lang="en-US"/>
            <a:t> first.</a:t>
          </a:r>
        </a:p>
      </dgm:t>
    </dgm:pt>
    <dgm:pt modelId="{492EAAA5-251D-4339-8ED3-64E9EBB0D358}" type="parTrans" cxnId="{6FA33959-58BB-44EE-986B-BF0C759E9060}">
      <dgm:prSet/>
      <dgm:spPr/>
      <dgm:t>
        <a:bodyPr/>
        <a:lstStyle/>
        <a:p>
          <a:endParaRPr lang="en-US"/>
        </a:p>
      </dgm:t>
    </dgm:pt>
    <dgm:pt modelId="{7F6CB29D-CE30-4C6C-853B-BE62B41A66D4}" type="sibTrans" cxnId="{6FA33959-58BB-44EE-986B-BF0C759E9060}">
      <dgm:prSet/>
      <dgm:spPr/>
      <dgm:t>
        <a:bodyPr/>
        <a:lstStyle/>
        <a:p>
          <a:endParaRPr lang="en-US"/>
        </a:p>
      </dgm:t>
    </dgm:pt>
    <dgm:pt modelId="{08FA25CA-A59C-4183-9DE6-2512DAC66980}">
      <dgm:prSet/>
      <dgm:spPr/>
      <dgm:t>
        <a:bodyPr/>
        <a:lstStyle/>
        <a:p>
          <a:r>
            <a:rPr lang="en-US"/>
            <a:t>Continuously updates the shortest path to each vertex based on edge weights.</a:t>
          </a:r>
        </a:p>
      </dgm:t>
    </dgm:pt>
    <dgm:pt modelId="{5D24E030-17FD-44FA-A051-9773955565F8}" type="parTrans" cxnId="{2665A753-6362-4978-95B7-26F2DDC8E173}">
      <dgm:prSet/>
      <dgm:spPr/>
      <dgm:t>
        <a:bodyPr/>
        <a:lstStyle/>
        <a:p>
          <a:endParaRPr lang="en-US"/>
        </a:p>
      </dgm:t>
    </dgm:pt>
    <dgm:pt modelId="{E60C1C47-5883-4A64-9064-2CC78A6E0D55}" type="sibTrans" cxnId="{2665A753-6362-4978-95B7-26F2DDC8E173}">
      <dgm:prSet/>
      <dgm:spPr/>
      <dgm:t>
        <a:bodyPr/>
        <a:lstStyle/>
        <a:p>
          <a:endParaRPr lang="en-US"/>
        </a:p>
      </dgm:t>
    </dgm:pt>
    <dgm:pt modelId="{DC4B8964-8433-4DB0-83A8-8663FF547D87}">
      <dgm:prSet/>
      <dgm:spPr/>
      <dgm:t>
        <a:bodyPr/>
        <a:lstStyle/>
        <a:p>
          <a:r>
            <a:rPr lang="en-US"/>
            <a:t>Guarantees the optimal path from the source to each node.</a:t>
          </a:r>
        </a:p>
      </dgm:t>
    </dgm:pt>
    <dgm:pt modelId="{E434471C-50FB-40EB-9FB4-CF9E80F177D3}" type="parTrans" cxnId="{05E5FEDA-8EFA-4626-AEA7-820E68A852F1}">
      <dgm:prSet/>
      <dgm:spPr/>
      <dgm:t>
        <a:bodyPr/>
        <a:lstStyle/>
        <a:p>
          <a:endParaRPr lang="en-US"/>
        </a:p>
      </dgm:t>
    </dgm:pt>
    <dgm:pt modelId="{4BEF4F6B-D940-424B-BE20-CEAFC062A7F2}" type="sibTrans" cxnId="{05E5FEDA-8EFA-4626-AEA7-820E68A852F1}">
      <dgm:prSet/>
      <dgm:spPr/>
      <dgm:t>
        <a:bodyPr/>
        <a:lstStyle/>
        <a:p>
          <a:endParaRPr lang="en-US"/>
        </a:p>
      </dgm:t>
    </dgm:pt>
    <dgm:pt modelId="{D470E2A7-C71B-46B9-9EA2-E80C1F839AC4}" type="pres">
      <dgm:prSet presAssocID="{8FCA9DFB-9974-4CB9-B65B-8C4220DB33F3}" presName="outerComposite" presStyleCnt="0">
        <dgm:presLayoutVars>
          <dgm:chMax val="5"/>
          <dgm:dir/>
          <dgm:resizeHandles val="exact"/>
        </dgm:presLayoutVars>
      </dgm:prSet>
      <dgm:spPr/>
    </dgm:pt>
    <dgm:pt modelId="{809D20AD-B6C2-4A7A-844C-CE5955711159}" type="pres">
      <dgm:prSet presAssocID="{8FCA9DFB-9974-4CB9-B65B-8C4220DB33F3}" presName="dummyMaxCanvas" presStyleCnt="0">
        <dgm:presLayoutVars/>
      </dgm:prSet>
      <dgm:spPr/>
    </dgm:pt>
    <dgm:pt modelId="{5341E7FB-0EAF-40B9-857C-870CA963E0FE}" type="pres">
      <dgm:prSet presAssocID="{8FCA9DFB-9974-4CB9-B65B-8C4220DB33F3}" presName="FiveNodes_1" presStyleLbl="node1" presStyleIdx="0" presStyleCnt="5">
        <dgm:presLayoutVars>
          <dgm:bulletEnabled val="1"/>
        </dgm:presLayoutVars>
      </dgm:prSet>
      <dgm:spPr/>
    </dgm:pt>
    <dgm:pt modelId="{6AA29A0D-5268-43AC-AB11-717EBD212C20}" type="pres">
      <dgm:prSet presAssocID="{8FCA9DFB-9974-4CB9-B65B-8C4220DB33F3}" presName="FiveNodes_2" presStyleLbl="node1" presStyleIdx="1" presStyleCnt="5">
        <dgm:presLayoutVars>
          <dgm:bulletEnabled val="1"/>
        </dgm:presLayoutVars>
      </dgm:prSet>
      <dgm:spPr/>
    </dgm:pt>
    <dgm:pt modelId="{1F7C0B6F-EC27-4145-9803-0988F50882AE}" type="pres">
      <dgm:prSet presAssocID="{8FCA9DFB-9974-4CB9-B65B-8C4220DB33F3}" presName="FiveNodes_3" presStyleLbl="node1" presStyleIdx="2" presStyleCnt="5">
        <dgm:presLayoutVars>
          <dgm:bulletEnabled val="1"/>
        </dgm:presLayoutVars>
      </dgm:prSet>
      <dgm:spPr/>
    </dgm:pt>
    <dgm:pt modelId="{EE2B0775-98E3-4A97-9A80-F4748CC313C4}" type="pres">
      <dgm:prSet presAssocID="{8FCA9DFB-9974-4CB9-B65B-8C4220DB33F3}" presName="FiveNodes_4" presStyleLbl="node1" presStyleIdx="3" presStyleCnt="5">
        <dgm:presLayoutVars>
          <dgm:bulletEnabled val="1"/>
        </dgm:presLayoutVars>
      </dgm:prSet>
      <dgm:spPr/>
    </dgm:pt>
    <dgm:pt modelId="{D33A3D58-0CD5-4C06-B18E-F0780D56D8DB}" type="pres">
      <dgm:prSet presAssocID="{8FCA9DFB-9974-4CB9-B65B-8C4220DB33F3}" presName="FiveNodes_5" presStyleLbl="node1" presStyleIdx="4" presStyleCnt="5">
        <dgm:presLayoutVars>
          <dgm:bulletEnabled val="1"/>
        </dgm:presLayoutVars>
      </dgm:prSet>
      <dgm:spPr/>
    </dgm:pt>
    <dgm:pt modelId="{56B44EA1-0579-48FF-87B2-3010FEF46373}" type="pres">
      <dgm:prSet presAssocID="{8FCA9DFB-9974-4CB9-B65B-8C4220DB33F3}" presName="FiveConn_1-2" presStyleLbl="fgAccFollowNode1" presStyleIdx="0" presStyleCnt="4">
        <dgm:presLayoutVars>
          <dgm:bulletEnabled val="1"/>
        </dgm:presLayoutVars>
      </dgm:prSet>
      <dgm:spPr/>
    </dgm:pt>
    <dgm:pt modelId="{8DA97D53-185C-4E19-B1CD-C70347F63209}" type="pres">
      <dgm:prSet presAssocID="{8FCA9DFB-9974-4CB9-B65B-8C4220DB33F3}" presName="FiveConn_2-3" presStyleLbl="fgAccFollowNode1" presStyleIdx="1" presStyleCnt="4">
        <dgm:presLayoutVars>
          <dgm:bulletEnabled val="1"/>
        </dgm:presLayoutVars>
      </dgm:prSet>
      <dgm:spPr/>
    </dgm:pt>
    <dgm:pt modelId="{A1415CD6-AC92-4C8E-A9F1-2F9DEFF40FBE}" type="pres">
      <dgm:prSet presAssocID="{8FCA9DFB-9974-4CB9-B65B-8C4220DB33F3}" presName="FiveConn_3-4" presStyleLbl="fgAccFollowNode1" presStyleIdx="2" presStyleCnt="4">
        <dgm:presLayoutVars>
          <dgm:bulletEnabled val="1"/>
        </dgm:presLayoutVars>
      </dgm:prSet>
      <dgm:spPr/>
    </dgm:pt>
    <dgm:pt modelId="{B8BD277D-A431-44DA-B051-94827710E897}" type="pres">
      <dgm:prSet presAssocID="{8FCA9DFB-9974-4CB9-B65B-8C4220DB33F3}" presName="FiveConn_4-5" presStyleLbl="fgAccFollowNode1" presStyleIdx="3" presStyleCnt="4">
        <dgm:presLayoutVars>
          <dgm:bulletEnabled val="1"/>
        </dgm:presLayoutVars>
      </dgm:prSet>
      <dgm:spPr/>
    </dgm:pt>
    <dgm:pt modelId="{7E160C2B-2F5E-4C80-B902-777F1CC8D70E}" type="pres">
      <dgm:prSet presAssocID="{8FCA9DFB-9974-4CB9-B65B-8C4220DB33F3}" presName="FiveNodes_1_text" presStyleLbl="node1" presStyleIdx="4" presStyleCnt="5">
        <dgm:presLayoutVars>
          <dgm:bulletEnabled val="1"/>
        </dgm:presLayoutVars>
      </dgm:prSet>
      <dgm:spPr/>
    </dgm:pt>
    <dgm:pt modelId="{ABA8B94C-9F5C-4FC0-A866-65BE92FF1710}" type="pres">
      <dgm:prSet presAssocID="{8FCA9DFB-9974-4CB9-B65B-8C4220DB33F3}" presName="FiveNodes_2_text" presStyleLbl="node1" presStyleIdx="4" presStyleCnt="5">
        <dgm:presLayoutVars>
          <dgm:bulletEnabled val="1"/>
        </dgm:presLayoutVars>
      </dgm:prSet>
      <dgm:spPr/>
    </dgm:pt>
    <dgm:pt modelId="{9377DD13-F667-4DEB-A62B-1C05B5C9B6F4}" type="pres">
      <dgm:prSet presAssocID="{8FCA9DFB-9974-4CB9-B65B-8C4220DB33F3}" presName="FiveNodes_3_text" presStyleLbl="node1" presStyleIdx="4" presStyleCnt="5">
        <dgm:presLayoutVars>
          <dgm:bulletEnabled val="1"/>
        </dgm:presLayoutVars>
      </dgm:prSet>
      <dgm:spPr/>
    </dgm:pt>
    <dgm:pt modelId="{2A071D9E-EAE7-434C-A5FB-CC4E4B579C6C}" type="pres">
      <dgm:prSet presAssocID="{8FCA9DFB-9974-4CB9-B65B-8C4220DB33F3}" presName="FiveNodes_4_text" presStyleLbl="node1" presStyleIdx="4" presStyleCnt="5">
        <dgm:presLayoutVars>
          <dgm:bulletEnabled val="1"/>
        </dgm:presLayoutVars>
      </dgm:prSet>
      <dgm:spPr/>
    </dgm:pt>
    <dgm:pt modelId="{972F5CDB-C51E-4003-9891-0EBBBF37B7CE}" type="pres">
      <dgm:prSet presAssocID="{8FCA9DFB-9974-4CB9-B65B-8C4220DB33F3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61E49504-67FB-4928-9437-2A3DD7360DB5}" type="presOf" srcId="{97E85B04-789A-46D4-92C7-B96C31A3E619}" destId="{1F7C0B6F-EC27-4145-9803-0988F50882AE}" srcOrd="0" destOrd="0" presId="urn:microsoft.com/office/officeart/2005/8/layout/vProcess5"/>
    <dgm:cxn modelId="{BC7FAB1E-70E0-434B-9FD5-8223BB3549E0}" type="presOf" srcId="{08FA25CA-A59C-4183-9DE6-2512DAC66980}" destId="{EE2B0775-98E3-4A97-9A80-F4748CC313C4}" srcOrd="0" destOrd="0" presId="urn:microsoft.com/office/officeart/2005/8/layout/vProcess5"/>
    <dgm:cxn modelId="{BF0F6420-6727-455F-8F2C-CD16095E8F51}" type="presOf" srcId="{97E85B04-789A-46D4-92C7-B96C31A3E619}" destId="{9377DD13-F667-4DEB-A62B-1C05B5C9B6F4}" srcOrd="1" destOrd="0" presId="urn:microsoft.com/office/officeart/2005/8/layout/vProcess5"/>
    <dgm:cxn modelId="{51BC9363-5DF3-4340-ABB9-04FBECF06070}" type="presOf" srcId="{7F6CB29D-CE30-4C6C-853B-BE62B41A66D4}" destId="{A1415CD6-AC92-4C8E-A9F1-2F9DEFF40FBE}" srcOrd="0" destOrd="0" presId="urn:microsoft.com/office/officeart/2005/8/layout/vProcess5"/>
    <dgm:cxn modelId="{F9188653-94F4-49B4-A572-0EB0F98C51C8}" type="presOf" srcId="{DC4B8964-8433-4DB0-83A8-8663FF547D87}" destId="{972F5CDB-C51E-4003-9891-0EBBBF37B7CE}" srcOrd="1" destOrd="0" presId="urn:microsoft.com/office/officeart/2005/8/layout/vProcess5"/>
    <dgm:cxn modelId="{2665A753-6362-4978-95B7-26F2DDC8E173}" srcId="{8FCA9DFB-9974-4CB9-B65B-8C4220DB33F3}" destId="{08FA25CA-A59C-4183-9DE6-2512DAC66980}" srcOrd="3" destOrd="0" parTransId="{5D24E030-17FD-44FA-A051-9773955565F8}" sibTransId="{E60C1C47-5883-4A64-9064-2CC78A6E0D55}"/>
    <dgm:cxn modelId="{44E16E77-25AD-4023-942D-C0903717CE46}" type="presOf" srcId="{A3E6B2AD-CA56-4978-BC63-5DC51F060BBF}" destId="{56B44EA1-0579-48FF-87B2-3010FEF46373}" srcOrd="0" destOrd="0" presId="urn:microsoft.com/office/officeart/2005/8/layout/vProcess5"/>
    <dgm:cxn modelId="{6E602E78-E681-4AAA-A544-F17BD6C32425}" type="presOf" srcId="{84B93B6C-72BA-424E-9D0B-401BCBE3A051}" destId="{ABA8B94C-9F5C-4FC0-A866-65BE92FF1710}" srcOrd="1" destOrd="0" presId="urn:microsoft.com/office/officeart/2005/8/layout/vProcess5"/>
    <dgm:cxn modelId="{6FA33959-58BB-44EE-986B-BF0C759E9060}" srcId="{8FCA9DFB-9974-4CB9-B65B-8C4220DB33F3}" destId="{97E85B04-789A-46D4-92C7-B96C31A3E619}" srcOrd="2" destOrd="0" parTransId="{492EAAA5-251D-4339-8ED3-64E9EBB0D358}" sibTransId="{7F6CB29D-CE30-4C6C-853B-BE62B41A66D4}"/>
    <dgm:cxn modelId="{70AEDE7E-E5E0-4C84-8C16-2D8B65EDAB28}" srcId="{8FCA9DFB-9974-4CB9-B65B-8C4220DB33F3}" destId="{B86608C5-96E6-4180-959A-B0EE0DC27415}" srcOrd="0" destOrd="0" parTransId="{EDB97BDA-6EFE-4ABC-8170-84336AD3E9FD}" sibTransId="{A3E6B2AD-CA56-4978-BC63-5DC51F060BBF}"/>
    <dgm:cxn modelId="{FCCF929E-4D90-48A3-A2E3-F35B051B646B}" type="presOf" srcId="{8FCA9DFB-9974-4CB9-B65B-8C4220DB33F3}" destId="{D470E2A7-C71B-46B9-9EA2-E80C1F839AC4}" srcOrd="0" destOrd="0" presId="urn:microsoft.com/office/officeart/2005/8/layout/vProcess5"/>
    <dgm:cxn modelId="{0C235AA1-F59A-4A53-A6AD-961CC14B0721}" type="presOf" srcId="{84B93B6C-72BA-424E-9D0B-401BCBE3A051}" destId="{6AA29A0D-5268-43AC-AB11-717EBD212C20}" srcOrd="0" destOrd="0" presId="urn:microsoft.com/office/officeart/2005/8/layout/vProcess5"/>
    <dgm:cxn modelId="{DD97C0A4-76CD-4E18-BB4D-0F5C11316FB1}" type="presOf" srcId="{DC4B8964-8433-4DB0-83A8-8663FF547D87}" destId="{D33A3D58-0CD5-4C06-B18E-F0780D56D8DB}" srcOrd="0" destOrd="0" presId="urn:microsoft.com/office/officeart/2005/8/layout/vProcess5"/>
    <dgm:cxn modelId="{CEBBC2B4-2D72-44EC-BB18-94A53A38ABAD}" type="presOf" srcId="{B86608C5-96E6-4180-959A-B0EE0DC27415}" destId="{5341E7FB-0EAF-40B9-857C-870CA963E0FE}" srcOrd="0" destOrd="0" presId="urn:microsoft.com/office/officeart/2005/8/layout/vProcess5"/>
    <dgm:cxn modelId="{09C280BB-DA7B-450D-B286-4F34A0DC2ECF}" type="presOf" srcId="{08FA25CA-A59C-4183-9DE6-2512DAC66980}" destId="{2A071D9E-EAE7-434C-A5FB-CC4E4B579C6C}" srcOrd="1" destOrd="0" presId="urn:microsoft.com/office/officeart/2005/8/layout/vProcess5"/>
    <dgm:cxn modelId="{A22BD2BD-301F-4078-9765-BCEA67F91C85}" type="presOf" srcId="{B86608C5-96E6-4180-959A-B0EE0DC27415}" destId="{7E160C2B-2F5E-4C80-B902-777F1CC8D70E}" srcOrd="1" destOrd="0" presId="urn:microsoft.com/office/officeart/2005/8/layout/vProcess5"/>
    <dgm:cxn modelId="{20B331C4-26DC-4749-9930-53EC48D8A44D}" srcId="{8FCA9DFB-9974-4CB9-B65B-8C4220DB33F3}" destId="{84B93B6C-72BA-424E-9D0B-401BCBE3A051}" srcOrd="1" destOrd="0" parTransId="{43067D71-282E-438A-9748-839C3AE097FB}" sibTransId="{0D519FD2-0073-41D6-A421-15DA44202798}"/>
    <dgm:cxn modelId="{EF37CED8-4D17-4767-A68A-57989AD248A0}" type="presOf" srcId="{E60C1C47-5883-4A64-9064-2CC78A6E0D55}" destId="{B8BD277D-A431-44DA-B051-94827710E897}" srcOrd="0" destOrd="0" presId="urn:microsoft.com/office/officeart/2005/8/layout/vProcess5"/>
    <dgm:cxn modelId="{05E5FEDA-8EFA-4626-AEA7-820E68A852F1}" srcId="{8FCA9DFB-9974-4CB9-B65B-8C4220DB33F3}" destId="{DC4B8964-8433-4DB0-83A8-8663FF547D87}" srcOrd="4" destOrd="0" parTransId="{E434471C-50FB-40EB-9FB4-CF9E80F177D3}" sibTransId="{4BEF4F6B-D940-424B-BE20-CEAFC062A7F2}"/>
    <dgm:cxn modelId="{47549FFA-0A59-4E25-80F2-AA42C03CB4A5}" type="presOf" srcId="{0D519FD2-0073-41D6-A421-15DA44202798}" destId="{8DA97D53-185C-4E19-B1CD-C70347F63209}" srcOrd="0" destOrd="0" presId="urn:microsoft.com/office/officeart/2005/8/layout/vProcess5"/>
    <dgm:cxn modelId="{EF151FC0-F392-4270-9309-9B754A5FCC08}" type="presParOf" srcId="{D470E2A7-C71B-46B9-9EA2-E80C1F839AC4}" destId="{809D20AD-B6C2-4A7A-844C-CE5955711159}" srcOrd="0" destOrd="0" presId="urn:microsoft.com/office/officeart/2005/8/layout/vProcess5"/>
    <dgm:cxn modelId="{C4E3C206-B7DA-4C05-8223-A140B255A679}" type="presParOf" srcId="{D470E2A7-C71B-46B9-9EA2-E80C1F839AC4}" destId="{5341E7FB-0EAF-40B9-857C-870CA963E0FE}" srcOrd="1" destOrd="0" presId="urn:microsoft.com/office/officeart/2005/8/layout/vProcess5"/>
    <dgm:cxn modelId="{7CF2912D-01BF-4ECE-A654-D00A2C8BF2AB}" type="presParOf" srcId="{D470E2A7-C71B-46B9-9EA2-E80C1F839AC4}" destId="{6AA29A0D-5268-43AC-AB11-717EBD212C20}" srcOrd="2" destOrd="0" presId="urn:microsoft.com/office/officeart/2005/8/layout/vProcess5"/>
    <dgm:cxn modelId="{46A2BE94-9705-47A8-ADF5-33931C40937D}" type="presParOf" srcId="{D470E2A7-C71B-46B9-9EA2-E80C1F839AC4}" destId="{1F7C0B6F-EC27-4145-9803-0988F50882AE}" srcOrd="3" destOrd="0" presId="urn:microsoft.com/office/officeart/2005/8/layout/vProcess5"/>
    <dgm:cxn modelId="{BCE4266B-3B45-4A29-896B-46767F87D8FB}" type="presParOf" srcId="{D470E2A7-C71B-46B9-9EA2-E80C1F839AC4}" destId="{EE2B0775-98E3-4A97-9A80-F4748CC313C4}" srcOrd="4" destOrd="0" presId="urn:microsoft.com/office/officeart/2005/8/layout/vProcess5"/>
    <dgm:cxn modelId="{985F6E46-99E8-4FCE-96A3-5C8BA4D3F4CB}" type="presParOf" srcId="{D470E2A7-C71B-46B9-9EA2-E80C1F839AC4}" destId="{D33A3D58-0CD5-4C06-B18E-F0780D56D8DB}" srcOrd="5" destOrd="0" presId="urn:microsoft.com/office/officeart/2005/8/layout/vProcess5"/>
    <dgm:cxn modelId="{DCDD3468-D3E3-49F3-86E8-74D05695C1DB}" type="presParOf" srcId="{D470E2A7-C71B-46B9-9EA2-E80C1F839AC4}" destId="{56B44EA1-0579-48FF-87B2-3010FEF46373}" srcOrd="6" destOrd="0" presId="urn:microsoft.com/office/officeart/2005/8/layout/vProcess5"/>
    <dgm:cxn modelId="{9CF80977-9226-4DE2-938F-8B0E68E5B3AE}" type="presParOf" srcId="{D470E2A7-C71B-46B9-9EA2-E80C1F839AC4}" destId="{8DA97D53-185C-4E19-B1CD-C70347F63209}" srcOrd="7" destOrd="0" presId="urn:microsoft.com/office/officeart/2005/8/layout/vProcess5"/>
    <dgm:cxn modelId="{5B477375-1697-48C6-9B7F-D559631DBADD}" type="presParOf" srcId="{D470E2A7-C71B-46B9-9EA2-E80C1F839AC4}" destId="{A1415CD6-AC92-4C8E-A9F1-2F9DEFF40FBE}" srcOrd="8" destOrd="0" presId="urn:microsoft.com/office/officeart/2005/8/layout/vProcess5"/>
    <dgm:cxn modelId="{730F5EB5-A3EC-4D0D-9BBC-0751ED2778DD}" type="presParOf" srcId="{D470E2A7-C71B-46B9-9EA2-E80C1F839AC4}" destId="{B8BD277D-A431-44DA-B051-94827710E897}" srcOrd="9" destOrd="0" presId="urn:microsoft.com/office/officeart/2005/8/layout/vProcess5"/>
    <dgm:cxn modelId="{988FF8C3-8FCD-40FB-A8AF-20EF91BD18B3}" type="presParOf" srcId="{D470E2A7-C71B-46B9-9EA2-E80C1F839AC4}" destId="{7E160C2B-2F5E-4C80-B902-777F1CC8D70E}" srcOrd="10" destOrd="0" presId="urn:microsoft.com/office/officeart/2005/8/layout/vProcess5"/>
    <dgm:cxn modelId="{EF6EE2AC-8A17-4ED7-A334-BD73306FBC9C}" type="presParOf" srcId="{D470E2A7-C71B-46B9-9EA2-E80C1F839AC4}" destId="{ABA8B94C-9F5C-4FC0-A866-65BE92FF1710}" srcOrd="11" destOrd="0" presId="urn:microsoft.com/office/officeart/2005/8/layout/vProcess5"/>
    <dgm:cxn modelId="{E2344C6E-A88D-4A7F-AC35-C7B3E700C853}" type="presParOf" srcId="{D470E2A7-C71B-46B9-9EA2-E80C1F839AC4}" destId="{9377DD13-F667-4DEB-A62B-1C05B5C9B6F4}" srcOrd="12" destOrd="0" presId="urn:microsoft.com/office/officeart/2005/8/layout/vProcess5"/>
    <dgm:cxn modelId="{D9C086B6-538D-43BD-9EBF-CBC31808D9E7}" type="presParOf" srcId="{D470E2A7-C71B-46B9-9EA2-E80C1F839AC4}" destId="{2A071D9E-EAE7-434C-A5FB-CC4E4B579C6C}" srcOrd="13" destOrd="0" presId="urn:microsoft.com/office/officeart/2005/8/layout/vProcess5"/>
    <dgm:cxn modelId="{036718C8-0511-421A-B9DA-23C84D17A7D1}" type="presParOf" srcId="{D470E2A7-C71B-46B9-9EA2-E80C1F839AC4}" destId="{972F5CDB-C51E-4003-9891-0EBBBF37B7CE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3E1AF05-7273-493C-849F-001992A85524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63954BC-2576-4CDD-903F-0969743FA30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 very simple summary of the structure and methods used in our code.</a:t>
          </a:r>
        </a:p>
      </dgm:t>
    </dgm:pt>
    <dgm:pt modelId="{07235620-0738-49CC-907E-92A80B3C7DC4}" type="parTrans" cxnId="{38BCB7CC-16C8-4C07-8109-B854C05AECE0}">
      <dgm:prSet/>
      <dgm:spPr/>
      <dgm:t>
        <a:bodyPr/>
        <a:lstStyle/>
        <a:p>
          <a:endParaRPr lang="en-US"/>
        </a:p>
      </dgm:t>
    </dgm:pt>
    <dgm:pt modelId="{EECBB72E-8187-442A-A61E-C25265FBDB11}" type="sibTrans" cxnId="{38BCB7CC-16C8-4C07-8109-B854C05AECE0}">
      <dgm:prSet/>
      <dgm:spPr/>
      <dgm:t>
        <a:bodyPr/>
        <a:lstStyle/>
        <a:p>
          <a:endParaRPr lang="en-US"/>
        </a:p>
      </dgm:t>
    </dgm:pt>
    <dgm:pt modelId="{6CCDF495-FCBD-463F-A8C7-82C06D21D8B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Graph class encapsulates all functionality.</a:t>
          </a:r>
        </a:p>
      </dgm:t>
    </dgm:pt>
    <dgm:pt modelId="{A0629225-7FCD-43F8-934C-C38ED078678D}" type="parTrans" cxnId="{216E8C90-F14D-434B-B12B-94DE9FA6CA14}">
      <dgm:prSet/>
      <dgm:spPr/>
      <dgm:t>
        <a:bodyPr/>
        <a:lstStyle/>
        <a:p>
          <a:endParaRPr lang="en-US"/>
        </a:p>
      </dgm:t>
    </dgm:pt>
    <dgm:pt modelId="{F833D925-E55D-41CD-A962-9FBEC9CC32F0}" type="sibTrans" cxnId="{216E8C90-F14D-434B-B12B-94DE9FA6CA14}">
      <dgm:prSet/>
      <dgm:spPr/>
      <dgm:t>
        <a:bodyPr/>
        <a:lstStyle/>
        <a:p>
          <a:endParaRPr lang="en-US"/>
        </a:p>
      </dgm:t>
    </dgm:pt>
    <dgm:pt modelId="{A2753B7F-E723-47B8-A774-109C84B8592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main.cpp sets up two test graphs.</a:t>
          </a:r>
        </a:p>
      </dgm:t>
    </dgm:pt>
    <dgm:pt modelId="{E8F6E14B-6DDA-4A74-951A-B5FE1A36123C}" type="parTrans" cxnId="{8D6CAB03-30DE-40CA-B23B-27E5052714FC}">
      <dgm:prSet/>
      <dgm:spPr/>
      <dgm:t>
        <a:bodyPr/>
        <a:lstStyle/>
        <a:p>
          <a:endParaRPr lang="en-US"/>
        </a:p>
      </dgm:t>
    </dgm:pt>
    <dgm:pt modelId="{661B5A0B-BB95-4A74-86E6-A69B5262DD8D}" type="sibTrans" cxnId="{8D6CAB03-30DE-40CA-B23B-27E5052714FC}">
      <dgm:prSet/>
      <dgm:spPr/>
      <dgm:t>
        <a:bodyPr/>
        <a:lstStyle/>
        <a:p>
          <a:endParaRPr lang="en-US"/>
        </a:p>
      </dgm:t>
    </dgm:pt>
    <dgm:pt modelId="{690CE5C5-137B-448A-B746-E53A9D3AF3D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Calls shortestPath and prints distance and path.</a:t>
          </a:r>
        </a:p>
      </dgm:t>
    </dgm:pt>
    <dgm:pt modelId="{8806BE36-1F6C-4308-A9FA-00030258BC1D}" type="parTrans" cxnId="{64559FF8-8A2B-4CF6-931E-9341B2EB727B}">
      <dgm:prSet/>
      <dgm:spPr/>
      <dgm:t>
        <a:bodyPr/>
        <a:lstStyle/>
        <a:p>
          <a:endParaRPr lang="en-US"/>
        </a:p>
      </dgm:t>
    </dgm:pt>
    <dgm:pt modelId="{E7771B99-6866-455A-A2EC-60ACF72A5E58}" type="sibTrans" cxnId="{64559FF8-8A2B-4CF6-931E-9341B2EB727B}">
      <dgm:prSet/>
      <dgm:spPr/>
      <dgm:t>
        <a:bodyPr/>
        <a:lstStyle/>
        <a:p>
          <a:endParaRPr lang="en-US"/>
        </a:p>
      </dgm:t>
    </dgm:pt>
    <dgm:pt modelId="{CFD70803-35BC-4D5B-84CB-94E84F352E6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print_path function used for formatted output.</a:t>
          </a:r>
        </a:p>
      </dgm:t>
    </dgm:pt>
    <dgm:pt modelId="{330D4C7E-29A5-4BA1-8655-DE971D49C3F9}" type="parTrans" cxnId="{C3E4DA2C-28B1-4222-AC49-A7D071FB4328}">
      <dgm:prSet/>
      <dgm:spPr/>
      <dgm:t>
        <a:bodyPr/>
        <a:lstStyle/>
        <a:p>
          <a:endParaRPr lang="en-US"/>
        </a:p>
      </dgm:t>
    </dgm:pt>
    <dgm:pt modelId="{3B49FA21-FC85-4030-B506-76FFC749F05A}" type="sibTrans" cxnId="{C3E4DA2C-28B1-4222-AC49-A7D071FB4328}">
      <dgm:prSet/>
      <dgm:spPr/>
      <dgm:t>
        <a:bodyPr/>
        <a:lstStyle/>
        <a:p>
          <a:endParaRPr lang="en-US"/>
        </a:p>
      </dgm:t>
    </dgm:pt>
    <dgm:pt modelId="{9D89B1EA-8BE3-4AA5-9C4B-073C209C03CD}" type="pres">
      <dgm:prSet presAssocID="{33E1AF05-7273-493C-849F-001992A85524}" presName="root" presStyleCnt="0">
        <dgm:presLayoutVars>
          <dgm:dir/>
          <dgm:resizeHandles val="exact"/>
        </dgm:presLayoutVars>
      </dgm:prSet>
      <dgm:spPr/>
    </dgm:pt>
    <dgm:pt modelId="{9511E10F-DC0B-45DA-AB30-5B83EF43E60D}" type="pres">
      <dgm:prSet presAssocID="{D63954BC-2576-4CDD-903F-0969743FA305}" presName="compNode" presStyleCnt="0"/>
      <dgm:spPr/>
    </dgm:pt>
    <dgm:pt modelId="{DFF91F95-5FEB-4439-ADED-FCCF9D6DEBB8}" type="pres">
      <dgm:prSet presAssocID="{D63954BC-2576-4CDD-903F-0969743FA305}" presName="bgRect" presStyleLbl="bgShp" presStyleIdx="0" presStyleCnt="1"/>
      <dgm:spPr/>
    </dgm:pt>
    <dgm:pt modelId="{9721298C-2416-43EC-8FBC-42DE7AE09B91}" type="pres">
      <dgm:prSet presAssocID="{D63954BC-2576-4CDD-903F-0969743FA305}" presName="iconRect" presStyleLbl="node1" presStyleIdx="0" presStyleCnt="1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8BC06BFA-7ABB-43D2-BC49-54AD70D1D22A}" type="pres">
      <dgm:prSet presAssocID="{D63954BC-2576-4CDD-903F-0969743FA305}" presName="spaceRect" presStyleCnt="0"/>
      <dgm:spPr/>
    </dgm:pt>
    <dgm:pt modelId="{A824AC2A-C43A-4827-A3F5-93EE8A20F755}" type="pres">
      <dgm:prSet presAssocID="{D63954BC-2576-4CDD-903F-0969743FA305}" presName="parTx" presStyleLbl="revTx" presStyleIdx="0" presStyleCnt="2">
        <dgm:presLayoutVars>
          <dgm:chMax val="0"/>
          <dgm:chPref val="0"/>
        </dgm:presLayoutVars>
      </dgm:prSet>
      <dgm:spPr/>
    </dgm:pt>
    <dgm:pt modelId="{F691F961-E7BE-4107-AC14-A0147FCD091D}" type="pres">
      <dgm:prSet presAssocID="{D63954BC-2576-4CDD-903F-0969743FA305}" presName="desTx" presStyleLbl="revTx" presStyleIdx="1" presStyleCnt="2">
        <dgm:presLayoutVars/>
      </dgm:prSet>
      <dgm:spPr/>
    </dgm:pt>
  </dgm:ptLst>
  <dgm:cxnLst>
    <dgm:cxn modelId="{8D6CAB03-30DE-40CA-B23B-27E5052714FC}" srcId="{D63954BC-2576-4CDD-903F-0969743FA305}" destId="{A2753B7F-E723-47B8-A774-109C84B85928}" srcOrd="1" destOrd="0" parTransId="{E8F6E14B-6DDA-4A74-951A-B5FE1A36123C}" sibTransId="{661B5A0B-BB95-4A74-86E6-A69B5262DD8D}"/>
    <dgm:cxn modelId="{C3E4DA2C-28B1-4222-AC49-A7D071FB4328}" srcId="{D63954BC-2576-4CDD-903F-0969743FA305}" destId="{CFD70803-35BC-4D5B-84CB-94E84F352E6A}" srcOrd="3" destOrd="0" parTransId="{330D4C7E-29A5-4BA1-8655-DE971D49C3F9}" sibTransId="{3B49FA21-FC85-4030-B506-76FFC749F05A}"/>
    <dgm:cxn modelId="{97823D57-8BC3-4010-9611-A491182FFFB3}" type="presOf" srcId="{33E1AF05-7273-493C-849F-001992A85524}" destId="{9D89B1EA-8BE3-4AA5-9C4B-073C209C03CD}" srcOrd="0" destOrd="0" presId="urn:microsoft.com/office/officeart/2018/2/layout/IconVerticalSolidList"/>
    <dgm:cxn modelId="{216E8C90-F14D-434B-B12B-94DE9FA6CA14}" srcId="{D63954BC-2576-4CDD-903F-0969743FA305}" destId="{6CCDF495-FCBD-463F-A8C7-82C06D21D8BC}" srcOrd="0" destOrd="0" parTransId="{A0629225-7FCD-43F8-934C-C38ED078678D}" sibTransId="{F833D925-E55D-41CD-A962-9FBEC9CC32F0}"/>
    <dgm:cxn modelId="{930FBFB9-1276-48A8-8B96-3B985096AA1D}" type="presOf" srcId="{6CCDF495-FCBD-463F-A8C7-82C06D21D8BC}" destId="{F691F961-E7BE-4107-AC14-A0147FCD091D}" srcOrd="0" destOrd="0" presId="urn:microsoft.com/office/officeart/2018/2/layout/IconVerticalSolidList"/>
    <dgm:cxn modelId="{38BCB7CC-16C8-4C07-8109-B854C05AECE0}" srcId="{33E1AF05-7273-493C-849F-001992A85524}" destId="{D63954BC-2576-4CDD-903F-0969743FA305}" srcOrd="0" destOrd="0" parTransId="{07235620-0738-49CC-907E-92A80B3C7DC4}" sibTransId="{EECBB72E-8187-442A-A61E-C25265FBDB11}"/>
    <dgm:cxn modelId="{E564BEDF-1D6F-456E-95F7-DF666BE77C10}" type="presOf" srcId="{CFD70803-35BC-4D5B-84CB-94E84F352E6A}" destId="{F691F961-E7BE-4107-AC14-A0147FCD091D}" srcOrd="0" destOrd="3" presId="urn:microsoft.com/office/officeart/2018/2/layout/IconVerticalSolidList"/>
    <dgm:cxn modelId="{E67F13EC-3FDA-431E-A103-0E103F2998CF}" type="presOf" srcId="{A2753B7F-E723-47B8-A774-109C84B85928}" destId="{F691F961-E7BE-4107-AC14-A0147FCD091D}" srcOrd="0" destOrd="1" presId="urn:microsoft.com/office/officeart/2018/2/layout/IconVerticalSolidList"/>
    <dgm:cxn modelId="{8BDE63F1-6A32-4727-929F-11E67E6D2EFB}" type="presOf" srcId="{690CE5C5-137B-448A-B746-E53A9D3AF3DB}" destId="{F691F961-E7BE-4107-AC14-A0147FCD091D}" srcOrd="0" destOrd="2" presId="urn:microsoft.com/office/officeart/2018/2/layout/IconVerticalSolidList"/>
    <dgm:cxn modelId="{65479FF8-7966-4706-B084-A0826CE9AC5E}" type="presOf" srcId="{D63954BC-2576-4CDD-903F-0969743FA305}" destId="{A824AC2A-C43A-4827-A3F5-93EE8A20F755}" srcOrd="0" destOrd="0" presId="urn:microsoft.com/office/officeart/2018/2/layout/IconVerticalSolidList"/>
    <dgm:cxn modelId="{64559FF8-8A2B-4CF6-931E-9341B2EB727B}" srcId="{D63954BC-2576-4CDD-903F-0969743FA305}" destId="{690CE5C5-137B-448A-B746-E53A9D3AF3DB}" srcOrd="2" destOrd="0" parTransId="{8806BE36-1F6C-4308-A9FA-00030258BC1D}" sibTransId="{E7771B99-6866-455A-A2EC-60ACF72A5E58}"/>
    <dgm:cxn modelId="{98151220-CF91-4AB1-8BDB-5E330645C02B}" type="presParOf" srcId="{9D89B1EA-8BE3-4AA5-9C4B-073C209C03CD}" destId="{9511E10F-DC0B-45DA-AB30-5B83EF43E60D}" srcOrd="0" destOrd="0" presId="urn:microsoft.com/office/officeart/2018/2/layout/IconVerticalSolidList"/>
    <dgm:cxn modelId="{F55941A5-743E-425E-9221-98309F49E481}" type="presParOf" srcId="{9511E10F-DC0B-45DA-AB30-5B83EF43E60D}" destId="{DFF91F95-5FEB-4439-ADED-FCCF9D6DEBB8}" srcOrd="0" destOrd="0" presId="urn:microsoft.com/office/officeart/2018/2/layout/IconVerticalSolidList"/>
    <dgm:cxn modelId="{B1838221-3FC9-48F8-A621-E388AAFAF4C0}" type="presParOf" srcId="{9511E10F-DC0B-45DA-AB30-5B83EF43E60D}" destId="{9721298C-2416-43EC-8FBC-42DE7AE09B91}" srcOrd="1" destOrd="0" presId="urn:microsoft.com/office/officeart/2018/2/layout/IconVerticalSolidList"/>
    <dgm:cxn modelId="{8782CCCA-A100-475F-A420-89069594E32E}" type="presParOf" srcId="{9511E10F-DC0B-45DA-AB30-5B83EF43E60D}" destId="{8BC06BFA-7ABB-43D2-BC49-54AD70D1D22A}" srcOrd="2" destOrd="0" presId="urn:microsoft.com/office/officeart/2018/2/layout/IconVerticalSolidList"/>
    <dgm:cxn modelId="{6CBD7D23-064E-44D6-95C5-D04D3312F636}" type="presParOf" srcId="{9511E10F-DC0B-45DA-AB30-5B83EF43E60D}" destId="{A824AC2A-C43A-4827-A3F5-93EE8A20F755}" srcOrd="3" destOrd="0" presId="urn:microsoft.com/office/officeart/2018/2/layout/IconVerticalSolidList"/>
    <dgm:cxn modelId="{3ED4C3C2-AC25-4BCE-A3DD-D0C18140046D}" type="presParOf" srcId="{9511E10F-DC0B-45DA-AB30-5B83EF43E60D}" destId="{F691F961-E7BE-4107-AC14-A0147FCD091D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7AF6786-1E82-491E-B18F-FCA22D0D8FC6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4C0A6BD-7F37-4F60-8737-F6849EAD0F9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We have successfully:</a:t>
          </a:r>
        </a:p>
      </dgm:t>
    </dgm:pt>
    <dgm:pt modelId="{85BC721F-45EC-4321-BD83-B8CAF558BF3B}" type="parTrans" cxnId="{BEB0129B-A77E-49CF-9E01-A12859F96D62}">
      <dgm:prSet/>
      <dgm:spPr/>
      <dgm:t>
        <a:bodyPr/>
        <a:lstStyle/>
        <a:p>
          <a:endParaRPr lang="en-US"/>
        </a:p>
      </dgm:t>
    </dgm:pt>
    <dgm:pt modelId="{AB2BD2FD-3EBD-40AE-AA74-5D046F00FA6A}" type="sibTrans" cxnId="{BEB0129B-A77E-49CF-9E01-A12859F96D62}">
      <dgm:prSet/>
      <dgm:spPr/>
      <dgm:t>
        <a:bodyPr/>
        <a:lstStyle/>
        <a:p>
          <a:endParaRPr lang="en-US"/>
        </a:p>
      </dgm:t>
    </dgm:pt>
    <dgm:pt modelId="{12F1062C-7BF1-4F67-9E23-BBFC25E56E4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Implemented a Graph ADT and Dijkstra’s Algorithm to compute shortest paths.</a:t>
          </a:r>
        </a:p>
      </dgm:t>
    </dgm:pt>
    <dgm:pt modelId="{DE6A6571-6044-43E5-93CF-FD6A92A1374A}" type="parTrans" cxnId="{A51D5C8B-A067-48EC-94B6-DC9407B80F8E}">
      <dgm:prSet/>
      <dgm:spPr/>
      <dgm:t>
        <a:bodyPr/>
        <a:lstStyle/>
        <a:p>
          <a:endParaRPr lang="en-US"/>
        </a:p>
      </dgm:t>
    </dgm:pt>
    <dgm:pt modelId="{C1A72C1A-EB9F-4B92-9D71-E7E6946198F2}" type="sibTrans" cxnId="{A51D5C8B-A067-48EC-94B6-DC9407B80F8E}">
      <dgm:prSet/>
      <dgm:spPr/>
      <dgm:t>
        <a:bodyPr/>
        <a:lstStyle/>
        <a:p>
          <a:endParaRPr lang="en-US"/>
        </a:p>
      </dgm:t>
    </dgm:pt>
    <dgm:pt modelId="{3FC64CDE-E310-42A0-829D-9F9616EE46F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Verified the algorithm with multiple test cases on two different graphs.</a:t>
          </a:r>
        </a:p>
      </dgm:t>
    </dgm:pt>
    <dgm:pt modelId="{8FFF1377-7CA0-4B1A-ABA5-3D437F0FF1C2}" type="parTrans" cxnId="{9A121CC3-C40F-413E-B287-1A5D20764A30}">
      <dgm:prSet/>
      <dgm:spPr/>
      <dgm:t>
        <a:bodyPr/>
        <a:lstStyle/>
        <a:p>
          <a:endParaRPr lang="en-US"/>
        </a:p>
      </dgm:t>
    </dgm:pt>
    <dgm:pt modelId="{124DBCA1-82DE-44D2-953B-656C96480583}" type="sibTrans" cxnId="{9A121CC3-C40F-413E-B287-1A5D20764A30}">
      <dgm:prSet/>
      <dgm:spPr/>
      <dgm:t>
        <a:bodyPr/>
        <a:lstStyle/>
        <a:p>
          <a:endParaRPr lang="en-US"/>
        </a:p>
      </dgm:t>
    </dgm:pt>
    <dgm:pt modelId="{44E80DA8-EA4B-4109-92F2-9E812519EF6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Gained deeper understanding of real-world </a:t>
          </a:r>
          <a:r>
            <a:rPr lang="en-US">
              <a:latin typeface="Calibri"/>
            </a:rPr>
            <a:t>application of a theoretical concept learned in class.</a:t>
          </a:r>
          <a:endParaRPr lang="en-US"/>
        </a:p>
      </dgm:t>
    </dgm:pt>
    <dgm:pt modelId="{AED217F9-0D9A-4FD6-A441-C7F0FBB5CD39}" type="parTrans" cxnId="{8067B64A-8662-4657-9F99-8C73D439847A}">
      <dgm:prSet/>
      <dgm:spPr/>
      <dgm:t>
        <a:bodyPr/>
        <a:lstStyle/>
        <a:p>
          <a:endParaRPr lang="en-US"/>
        </a:p>
      </dgm:t>
    </dgm:pt>
    <dgm:pt modelId="{57A150C3-7DB3-43E2-8FA4-FC4CDCB9F1DC}" type="sibTrans" cxnId="{8067B64A-8662-4657-9F99-8C73D439847A}">
      <dgm:prSet/>
      <dgm:spPr/>
      <dgm:t>
        <a:bodyPr/>
        <a:lstStyle/>
        <a:p>
          <a:endParaRPr lang="en-US"/>
        </a:p>
      </dgm:t>
    </dgm:pt>
    <dgm:pt modelId="{57BF947A-5347-4692-AF47-A63F1C4BA3BA}" type="pres">
      <dgm:prSet presAssocID="{17AF6786-1E82-491E-B18F-FCA22D0D8FC6}" presName="root" presStyleCnt="0">
        <dgm:presLayoutVars>
          <dgm:dir/>
          <dgm:resizeHandles val="exact"/>
        </dgm:presLayoutVars>
      </dgm:prSet>
      <dgm:spPr/>
    </dgm:pt>
    <dgm:pt modelId="{1A905FEC-BE9B-4387-A3EC-B9B4A0C6B2C5}" type="pres">
      <dgm:prSet presAssocID="{64C0A6BD-7F37-4F60-8737-F6849EAD0F96}" presName="compNode" presStyleCnt="0"/>
      <dgm:spPr/>
    </dgm:pt>
    <dgm:pt modelId="{D39845FA-840A-41A4-83A9-6C90A3A0A277}" type="pres">
      <dgm:prSet presAssocID="{64C0A6BD-7F37-4F60-8737-F6849EAD0F96}" presName="bgRect" presStyleLbl="bgShp" presStyleIdx="0" presStyleCnt="4"/>
      <dgm:spPr/>
    </dgm:pt>
    <dgm:pt modelId="{6EE62029-28DD-4F47-8859-31A9ED9E012E}" type="pres">
      <dgm:prSet presAssocID="{64C0A6BD-7F37-4F60-8737-F6849EAD0F96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D214B800-E909-48B0-9B26-5F51EAB1C3F0}" type="pres">
      <dgm:prSet presAssocID="{64C0A6BD-7F37-4F60-8737-F6849EAD0F96}" presName="spaceRect" presStyleCnt="0"/>
      <dgm:spPr/>
    </dgm:pt>
    <dgm:pt modelId="{4C552DC5-CC35-4F69-ADD4-B96F7E3764B9}" type="pres">
      <dgm:prSet presAssocID="{64C0A6BD-7F37-4F60-8737-F6849EAD0F96}" presName="parTx" presStyleLbl="revTx" presStyleIdx="0" presStyleCnt="4">
        <dgm:presLayoutVars>
          <dgm:chMax val="0"/>
          <dgm:chPref val="0"/>
        </dgm:presLayoutVars>
      </dgm:prSet>
      <dgm:spPr/>
    </dgm:pt>
    <dgm:pt modelId="{8B68372F-DB4B-478C-8BB6-597DCC6B80A7}" type="pres">
      <dgm:prSet presAssocID="{AB2BD2FD-3EBD-40AE-AA74-5D046F00FA6A}" presName="sibTrans" presStyleCnt="0"/>
      <dgm:spPr/>
    </dgm:pt>
    <dgm:pt modelId="{7E494C4C-55D3-4853-A572-701034D39FDB}" type="pres">
      <dgm:prSet presAssocID="{12F1062C-7BF1-4F67-9E23-BBFC25E56E4C}" presName="compNode" presStyleCnt="0"/>
      <dgm:spPr/>
    </dgm:pt>
    <dgm:pt modelId="{8B9FFC25-8704-428A-8F3D-F0E4FAAB5BA7}" type="pres">
      <dgm:prSet presAssocID="{12F1062C-7BF1-4F67-9E23-BBFC25E56E4C}" presName="bgRect" presStyleLbl="bgShp" presStyleIdx="1" presStyleCnt="4"/>
      <dgm:spPr/>
    </dgm:pt>
    <dgm:pt modelId="{E27B3618-BC8B-452D-B6DF-DDF602537E3F}" type="pres">
      <dgm:prSet presAssocID="{12F1062C-7BF1-4F67-9E23-BBFC25E56E4C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BD097DBE-0A54-42D3-A96E-C3F456F5AE2F}" type="pres">
      <dgm:prSet presAssocID="{12F1062C-7BF1-4F67-9E23-BBFC25E56E4C}" presName="spaceRect" presStyleCnt="0"/>
      <dgm:spPr/>
    </dgm:pt>
    <dgm:pt modelId="{3A7E35C7-4B25-4E85-8C65-99172D3BF595}" type="pres">
      <dgm:prSet presAssocID="{12F1062C-7BF1-4F67-9E23-BBFC25E56E4C}" presName="parTx" presStyleLbl="revTx" presStyleIdx="1" presStyleCnt="4">
        <dgm:presLayoutVars>
          <dgm:chMax val="0"/>
          <dgm:chPref val="0"/>
        </dgm:presLayoutVars>
      </dgm:prSet>
      <dgm:spPr/>
    </dgm:pt>
    <dgm:pt modelId="{5318B7F4-9D64-479D-ADDF-2E670BB17134}" type="pres">
      <dgm:prSet presAssocID="{C1A72C1A-EB9F-4B92-9D71-E7E6946198F2}" presName="sibTrans" presStyleCnt="0"/>
      <dgm:spPr/>
    </dgm:pt>
    <dgm:pt modelId="{5F95278E-5765-48E7-BAA9-B91A4B500A88}" type="pres">
      <dgm:prSet presAssocID="{3FC64CDE-E310-42A0-829D-9F9616EE46FD}" presName="compNode" presStyleCnt="0"/>
      <dgm:spPr/>
    </dgm:pt>
    <dgm:pt modelId="{098241C4-147B-4429-8F23-4547DC8F3A58}" type="pres">
      <dgm:prSet presAssocID="{3FC64CDE-E310-42A0-829D-9F9616EE46FD}" presName="bgRect" presStyleLbl="bgShp" presStyleIdx="2" presStyleCnt="4"/>
      <dgm:spPr/>
    </dgm:pt>
    <dgm:pt modelId="{DF9A5BF8-6712-46B2-99FF-FB0E23023D23}" type="pres">
      <dgm:prSet presAssocID="{3FC64CDE-E310-42A0-829D-9F9616EE46FD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0F71B2DC-98F7-4704-9D9D-85D5512E45F0}" type="pres">
      <dgm:prSet presAssocID="{3FC64CDE-E310-42A0-829D-9F9616EE46FD}" presName="spaceRect" presStyleCnt="0"/>
      <dgm:spPr/>
    </dgm:pt>
    <dgm:pt modelId="{6D764BDC-C53C-40E9-94BF-85B34510BC68}" type="pres">
      <dgm:prSet presAssocID="{3FC64CDE-E310-42A0-829D-9F9616EE46FD}" presName="parTx" presStyleLbl="revTx" presStyleIdx="2" presStyleCnt="4">
        <dgm:presLayoutVars>
          <dgm:chMax val="0"/>
          <dgm:chPref val="0"/>
        </dgm:presLayoutVars>
      </dgm:prSet>
      <dgm:spPr/>
    </dgm:pt>
    <dgm:pt modelId="{EBEE7BB1-E61B-40DC-BB4F-09B88E26B903}" type="pres">
      <dgm:prSet presAssocID="{124DBCA1-82DE-44D2-953B-656C96480583}" presName="sibTrans" presStyleCnt="0"/>
      <dgm:spPr/>
    </dgm:pt>
    <dgm:pt modelId="{ABCD08F4-8116-4312-A9A4-7B6F1806966D}" type="pres">
      <dgm:prSet presAssocID="{44E80DA8-EA4B-4109-92F2-9E812519EF6D}" presName="compNode" presStyleCnt="0"/>
      <dgm:spPr/>
    </dgm:pt>
    <dgm:pt modelId="{F39C9428-356A-4B87-A059-1D0A45148EE4}" type="pres">
      <dgm:prSet presAssocID="{44E80DA8-EA4B-4109-92F2-9E812519EF6D}" presName="bgRect" presStyleLbl="bgShp" presStyleIdx="3" presStyleCnt="4"/>
      <dgm:spPr/>
    </dgm:pt>
    <dgm:pt modelId="{E3F7A7C1-F880-41A4-92CB-B085624E1BD3}" type="pres">
      <dgm:prSet presAssocID="{44E80DA8-EA4B-4109-92F2-9E812519EF6D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ze"/>
        </a:ext>
      </dgm:extLst>
    </dgm:pt>
    <dgm:pt modelId="{1EF79700-3C9D-4244-BCFE-5ADA3C6B3B7B}" type="pres">
      <dgm:prSet presAssocID="{44E80DA8-EA4B-4109-92F2-9E812519EF6D}" presName="spaceRect" presStyleCnt="0"/>
      <dgm:spPr/>
    </dgm:pt>
    <dgm:pt modelId="{8C0593C4-1093-4C21-A910-BC5EE38AD8CB}" type="pres">
      <dgm:prSet presAssocID="{44E80DA8-EA4B-4109-92F2-9E812519EF6D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5FB34E06-2923-46DE-8B43-A29225BDB8C6}" type="presOf" srcId="{17AF6786-1E82-491E-B18F-FCA22D0D8FC6}" destId="{57BF947A-5347-4692-AF47-A63F1C4BA3BA}" srcOrd="0" destOrd="0" presId="urn:microsoft.com/office/officeart/2018/2/layout/IconVerticalSolidList"/>
    <dgm:cxn modelId="{6C847A39-52FA-411E-B143-03EC04EE3985}" type="presOf" srcId="{64C0A6BD-7F37-4F60-8737-F6849EAD0F96}" destId="{4C552DC5-CC35-4F69-ADD4-B96F7E3764B9}" srcOrd="0" destOrd="0" presId="urn:microsoft.com/office/officeart/2018/2/layout/IconVerticalSolidList"/>
    <dgm:cxn modelId="{8067B64A-8662-4657-9F99-8C73D439847A}" srcId="{17AF6786-1E82-491E-B18F-FCA22D0D8FC6}" destId="{44E80DA8-EA4B-4109-92F2-9E812519EF6D}" srcOrd="3" destOrd="0" parTransId="{AED217F9-0D9A-4FD6-A441-C7F0FBB5CD39}" sibTransId="{57A150C3-7DB3-43E2-8FA4-FC4CDCB9F1DC}"/>
    <dgm:cxn modelId="{0A903A86-5A8C-41D7-A3D3-74583627462B}" type="presOf" srcId="{3FC64CDE-E310-42A0-829D-9F9616EE46FD}" destId="{6D764BDC-C53C-40E9-94BF-85B34510BC68}" srcOrd="0" destOrd="0" presId="urn:microsoft.com/office/officeart/2018/2/layout/IconVerticalSolidList"/>
    <dgm:cxn modelId="{A51D5C8B-A067-48EC-94B6-DC9407B80F8E}" srcId="{17AF6786-1E82-491E-B18F-FCA22D0D8FC6}" destId="{12F1062C-7BF1-4F67-9E23-BBFC25E56E4C}" srcOrd="1" destOrd="0" parTransId="{DE6A6571-6044-43E5-93CF-FD6A92A1374A}" sibTransId="{C1A72C1A-EB9F-4B92-9D71-E7E6946198F2}"/>
    <dgm:cxn modelId="{BEB0129B-A77E-49CF-9E01-A12859F96D62}" srcId="{17AF6786-1E82-491E-B18F-FCA22D0D8FC6}" destId="{64C0A6BD-7F37-4F60-8737-F6849EAD0F96}" srcOrd="0" destOrd="0" parTransId="{85BC721F-45EC-4321-BD83-B8CAF558BF3B}" sibTransId="{AB2BD2FD-3EBD-40AE-AA74-5D046F00FA6A}"/>
    <dgm:cxn modelId="{173FF8B7-2114-48E6-B079-0F641C420FFE}" type="presOf" srcId="{12F1062C-7BF1-4F67-9E23-BBFC25E56E4C}" destId="{3A7E35C7-4B25-4E85-8C65-99172D3BF595}" srcOrd="0" destOrd="0" presId="urn:microsoft.com/office/officeart/2018/2/layout/IconVerticalSolidList"/>
    <dgm:cxn modelId="{9A121CC3-C40F-413E-B287-1A5D20764A30}" srcId="{17AF6786-1E82-491E-B18F-FCA22D0D8FC6}" destId="{3FC64CDE-E310-42A0-829D-9F9616EE46FD}" srcOrd="2" destOrd="0" parTransId="{8FFF1377-7CA0-4B1A-ABA5-3D437F0FF1C2}" sibTransId="{124DBCA1-82DE-44D2-953B-656C96480583}"/>
    <dgm:cxn modelId="{BFC284C9-596F-4594-BACF-84161374A0E4}" type="presOf" srcId="{44E80DA8-EA4B-4109-92F2-9E812519EF6D}" destId="{8C0593C4-1093-4C21-A910-BC5EE38AD8CB}" srcOrd="0" destOrd="0" presId="urn:microsoft.com/office/officeart/2018/2/layout/IconVerticalSolidList"/>
    <dgm:cxn modelId="{8AF04DB2-9195-44EA-B5F8-A61EA4AA4772}" type="presParOf" srcId="{57BF947A-5347-4692-AF47-A63F1C4BA3BA}" destId="{1A905FEC-BE9B-4387-A3EC-B9B4A0C6B2C5}" srcOrd="0" destOrd="0" presId="urn:microsoft.com/office/officeart/2018/2/layout/IconVerticalSolidList"/>
    <dgm:cxn modelId="{4DFD264B-D3E8-4FF7-842F-C6DC272E27B5}" type="presParOf" srcId="{1A905FEC-BE9B-4387-A3EC-B9B4A0C6B2C5}" destId="{D39845FA-840A-41A4-83A9-6C90A3A0A277}" srcOrd="0" destOrd="0" presId="urn:microsoft.com/office/officeart/2018/2/layout/IconVerticalSolidList"/>
    <dgm:cxn modelId="{88243EDE-8C3C-495A-878E-E8724382EEB7}" type="presParOf" srcId="{1A905FEC-BE9B-4387-A3EC-B9B4A0C6B2C5}" destId="{6EE62029-28DD-4F47-8859-31A9ED9E012E}" srcOrd="1" destOrd="0" presId="urn:microsoft.com/office/officeart/2018/2/layout/IconVerticalSolidList"/>
    <dgm:cxn modelId="{9DA66055-D1F8-4D28-8373-D1A1B70AC779}" type="presParOf" srcId="{1A905FEC-BE9B-4387-A3EC-B9B4A0C6B2C5}" destId="{D214B800-E909-48B0-9B26-5F51EAB1C3F0}" srcOrd="2" destOrd="0" presId="urn:microsoft.com/office/officeart/2018/2/layout/IconVerticalSolidList"/>
    <dgm:cxn modelId="{3D0D242B-0174-4595-B4E9-75918EEB1108}" type="presParOf" srcId="{1A905FEC-BE9B-4387-A3EC-B9B4A0C6B2C5}" destId="{4C552DC5-CC35-4F69-ADD4-B96F7E3764B9}" srcOrd="3" destOrd="0" presId="urn:microsoft.com/office/officeart/2018/2/layout/IconVerticalSolidList"/>
    <dgm:cxn modelId="{C2D1E295-6AE1-423A-8803-89FD89AC67AF}" type="presParOf" srcId="{57BF947A-5347-4692-AF47-A63F1C4BA3BA}" destId="{8B68372F-DB4B-478C-8BB6-597DCC6B80A7}" srcOrd="1" destOrd="0" presId="urn:microsoft.com/office/officeart/2018/2/layout/IconVerticalSolidList"/>
    <dgm:cxn modelId="{79DFDF56-FD83-40A5-A2DD-FC324C40E489}" type="presParOf" srcId="{57BF947A-5347-4692-AF47-A63F1C4BA3BA}" destId="{7E494C4C-55D3-4853-A572-701034D39FDB}" srcOrd="2" destOrd="0" presId="urn:microsoft.com/office/officeart/2018/2/layout/IconVerticalSolidList"/>
    <dgm:cxn modelId="{B598B45D-DDA4-4CC9-8380-3208E2A0E768}" type="presParOf" srcId="{7E494C4C-55D3-4853-A572-701034D39FDB}" destId="{8B9FFC25-8704-428A-8F3D-F0E4FAAB5BA7}" srcOrd="0" destOrd="0" presId="urn:microsoft.com/office/officeart/2018/2/layout/IconVerticalSolidList"/>
    <dgm:cxn modelId="{622FD762-834F-41FB-89AB-E52ACFEDFCD9}" type="presParOf" srcId="{7E494C4C-55D3-4853-A572-701034D39FDB}" destId="{E27B3618-BC8B-452D-B6DF-DDF602537E3F}" srcOrd="1" destOrd="0" presId="urn:microsoft.com/office/officeart/2018/2/layout/IconVerticalSolidList"/>
    <dgm:cxn modelId="{7DF78946-D86D-48B2-8722-1224998752DE}" type="presParOf" srcId="{7E494C4C-55D3-4853-A572-701034D39FDB}" destId="{BD097DBE-0A54-42D3-A96E-C3F456F5AE2F}" srcOrd="2" destOrd="0" presId="urn:microsoft.com/office/officeart/2018/2/layout/IconVerticalSolidList"/>
    <dgm:cxn modelId="{5687044E-EDBF-46EA-9894-C29B1CD30A2C}" type="presParOf" srcId="{7E494C4C-55D3-4853-A572-701034D39FDB}" destId="{3A7E35C7-4B25-4E85-8C65-99172D3BF595}" srcOrd="3" destOrd="0" presId="urn:microsoft.com/office/officeart/2018/2/layout/IconVerticalSolidList"/>
    <dgm:cxn modelId="{CDAC1915-10DD-461D-B361-5A387C868CD6}" type="presParOf" srcId="{57BF947A-5347-4692-AF47-A63F1C4BA3BA}" destId="{5318B7F4-9D64-479D-ADDF-2E670BB17134}" srcOrd="3" destOrd="0" presId="urn:microsoft.com/office/officeart/2018/2/layout/IconVerticalSolidList"/>
    <dgm:cxn modelId="{173F6968-D995-49C0-BA4D-D32540CB0EB9}" type="presParOf" srcId="{57BF947A-5347-4692-AF47-A63F1C4BA3BA}" destId="{5F95278E-5765-48E7-BAA9-B91A4B500A88}" srcOrd="4" destOrd="0" presId="urn:microsoft.com/office/officeart/2018/2/layout/IconVerticalSolidList"/>
    <dgm:cxn modelId="{AF7540DD-8254-4090-A1B4-AF996E442D1C}" type="presParOf" srcId="{5F95278E-5765-48E7-BAA9-B91A4B500A88}" destId="{098241C4-147B-4429-8F23-4547DC8F3A58}" srcOrd="0" destOrd="0" presId="urn:microsoft.com/office/officeart/2018/2/layout/IconVerticalSolidList"/>
    <dgm:cxn modelId="{218BC1DA-7608-4475-85AC-F22176BC9724}" type="presParOf" srcId="{5F95278E-5765-48E7-BAA9-B91A4B500A88}" destId="{DF9A5BF8-6712-46B2-99FF-FB0E23023D23}" srcOrd="1" destOrd="0" presId="urn:microsoft.com/office/officeart/2018/2/layout/IconVerticalSolidList"/>
    <dgm:cxn modelId="{1189FF6E-2698-4D72-BE89-5E0386A719DE}" type="presParOf" srcId="{5F95278E-5765-48E7-BAA9-B91A4B500A88}" destId="{0F71B2DC-98F7-4704-9D9D-85D5512E45F0}" srcOrd="2" destOrd="0" presId="urn:microsoft.com/office/officeart/2018/2/layout/IconVerticalSolidList"/>
    <dgm:cxn modelId="{55C5E789-ADCD-423E-8C6F-812BED929BC2}" type="presParOf" srcId="{5F95278E-5765-48E7-BAA9-B91A4B500A88}" destId="{6D764BDC-C53C-40E9-94BF-85B34510BC68}" srcOrd="3" destOrd="0" presId="urn:microsoft.com/office/officeart/2018/2/layout/IconVerticalSolidList"/>
    <dgm:cxn modelId="{E79815F4-372C-4EC1-BE97-49A40860EDAB}" type="presParOf" srcId="{57BF947A-5347-4692-AF47-A63F1C4BA3BA}" destId="{EBEE7BB1-E61B-40DC-BB4F-09B88E26B903}" srcOrd="5" destOrd="0" presId="urn:microsoft.com/office/officeart/2018/2/layout/IconVerticalSolidList"/>
    <dgm:cxn modelId="{C51B6C62-9641-49C6-BB2C-0A8D334E2A52}" type="presParOf" srcId="{57BF947A-5347-4692-AF47-A63F1C4BA3BA}" destId="{ABCD08F4-8116-4312-A9A4-7B6F1806966D}" srcOrd="6" destOrd="0" presId="urn:microsoft.com/office/officeart/2018/2/layout/IconVerticalSolidList"/>
    <dgm:cxn modelId="{78AD07F0-E210-45E4-98B3-92A3598604F8}" type="presParOf" srcId="{ABCD08F4-8116-4312-A9A4-7B6F1806966D}" destId="{F39C9428-356A-4B87-A059-1D0A45148EE4}" srcOrd="0" destOrd="0" presId="urn:microsoft.com/office/officeart/2018/2/layout/IconVerticalSolidList"/>
    <dgm:cxn modelId="{48DC60E4-0A1D-480D-9F2E-97EDC6C1C08B}" type="presParOf" srcId="{ABCD08F4-8116-4312-A9A4-7B6F1806966D}" destId="{E3F7A7C1-F880-41A4-92CB-B085624E1BD3}" srcOrd="1" destOrd="0" presId="urn:microsoft.com/office/officeart/2018/2/layout/IconVerticalSolidList"/>
    <dgm:cxn modelId="{C50EC2BD-7B13-408A-A444-E479A72888B8}" type="presParOf" srcId="{ABCD08F4-8116-4312-A9A4-7B6F1806966D}" destId="{1EF79700-3C9D-4244-BCFE-5ADA3C6B3B7B}" srcOrd="2" destOrd="0" presId="urn:microsoft.com/office/officeart/2018/2/layout/IconVerticalSolidList"/>
    <dgm:cxn modelId="{7B9A4538-FEC5-496B-A2C8-B5723AC7E064}" type="presParOf" srcId="{ABCD08F4-8116-4312-A9A4-7B6F1806966D}" destId="{8C0593C4-1093-4C21-A910-BC5EE38AD8CB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E346E8E-5D65-4D1D-A612-3BABA60642D3}">
      <dsp:nvSpPr>
        <dsp:cNvPr id="0" name=""/>
        <dsp:cNvSpPr/>
      </dsp:nvSpPr>
      <dsp:spPr>
        <a:xfrm>
          <a:off x="914210" y="1499"/>
          <a:ext cx="1594284" cy="956570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solidFill>
                <a:schemeClr val="tx1"/>
              </a:solidFill>
              <a:latin typeface="Calibri"/>
            </a:rPr>
            <a:t>What we aim to achieve with this project.</a:t>
          </a:r>
          <a:endParaRPr lang="en-US" sz="1400" kern="1200">
            <a:solidFill>
              <a:schemeClr val="tx1"/>
            </a:solidFill>
          </a:endParaRPr>
        </a:p>
      </dsp:txBody>
      <dsp:txXfrm>
        <a:off x="942227" y="29516"/>
        <a:ext cx="1538250" cy="900536"/>
      </dsp:txXfrm>
    </dsp:sp>
    <dsp:sp modelId="{EAC09FAE-AD1A-4F6B-BA6A-37EE1D9734E3}">
      <dsp:nvSpPr>
        <dsp:cNvPr id="0" name=""/>
        <dsp:cNvSpPr/>
      </dsp:nvSpPr>
      <dsp:spPr>
        <a:xfrm>
          <a:off x="2648791" y="282093"/>
          <a:ext cx="337988" cy="395382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>
        <a:off x="2648791" y="361169"/>
        <a:ext cx="236592" cy="237230"/>
      </dsp:txXfrm>
    </dsp:sp>
    <dsp:sp modelId="{E40DC5C5-13CC-4172-9D9F-E197BC0772CB}">
      <dsp:nvSpPr>
        <dsp:cNvPr id="0" name=""/>
        <dsp:cNvSpPr/>
      </dsp:nvSpPr>
      <dsp:spPr>
        <a:xfrm>
          <a:off x="3146207" y="1499"/>
          <a:ext cx="1594284" cy="956570"/>
        </a:xfrm>
        <a:prstGeom prst="roundRect">
          <a:avLst>
            <a:gd name="adj" fmla="val 10000"/>
          </a:avLst>
        </a:prstGeom>
        <a:solidFill>
          <a:schemeClr val="accent2">
            <a:hueOff val="668788"/>
            <a:satOff val="-834"/>
            <a:lumOff val="19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solidFill>
                <a:schemeClr val="tx1"/>
              </a:solidFill>
              <a:latin typeface="Calibri"/>
            </a:rPr>
            <a:t>Graph ADT design explanation</a:t>
          </a:r>
        </a:p>
      </dsp:txBody>
      <dsp:txXfrm>
        <a:off x="3174224" y="29516"/>
        <a:ext cx="1538250" cy="900536"/>
      </dsp:txXfrm>
    </dsp:sp>
    <dsp:sp modelId="{CDEC884C-30A1-4DC1-924E-D614C8E270C4}">
      <dsp:nvSpPr>
        <dsp:cNvPr id="0" name=""/>
        <dsp:cNvSpPr/>
      </dsp:nvSpPr>
      <dsp:spPr>
        <a:xfrm>
          <a:off x="4880789" y="282093"/>
          <a:ext cx="337988" cy="395382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780253"/>
            <a:satOff val="-973"/>
            <a:lumOff val="229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>
        <a:off x="4880789" y="361169"/>
        <a:ext cx="236592" cy="237230"/>
      </dsp:txXfrm>
    </dsp:sp>
    <dsp:sp modelId="{4452C908-BF21-473C-944F-40892CAC885E}">
      <dsp:nvSpPr>
        <dsp:cNvPr id="0" name=""/>
        <dsp:cNvSpPr/>
      </dsp:nvSpPr>
      <dsp:spPr>
        <a:xfrm>
          <a:off x="5378205" y="1499"/>
          <a:ext cx="1594284" cy="956570"/>
        </a:xfrm>
        <a:prstGeom prst="roundRect">
          <a:avLst>
            <a:gd name="adj" fmla="val 10000"/>
          </a:avLst>
        </a:prstGeom>
        <a:solidFill>
          <a:schemeClr val="accent2">
            <a:hueOff val="1337577"/>
            <a:satOff val="-1668"/>
            <a:lumOff val="392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latin typeface="Calibri"/>
            </a:rPr>
            <a:t> </a:t>
          </a:r>
          <a:r>
            <a:rPr lang="en-US" sz="1400" kern="1200">
              <a:solidFill>
                <a:schemeClr val="tx1"/>
              </a:solidFill>
              <a:latin typeface="Calibri"/>
            </a:rPr>
            <a:t>What is Dijkstra's Algorithm</a:t>
          </a:r>
        </a:p>
      </dsp:txBody>
      <dsp:txXfrm>
        <a:off x="5406222" y="29516"/>
        <a:ext cx="1538250" cy="900536"/>
      </dsp:txXfrm>
    </dsp:sp>
    <dsp:sp modelId="{6D902F95-DDF4-4AF6-BD13-34F5443E6A3C}">
      <dsp:nvSpPr>
        <dsp:cNvPr id="0" name=""/>
        <dsp:cNvSpPr/>
      </dsp:nvSpPr>
      <dsp:spPr>
        <a:xfrm rot="5400000">
          <a:off x="6006353" y="1069670"/>
          <a:ext cx="337988" cy="395382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 rot="-5400000">
        <a:off x="6056732" y="1098367"/>
        <a:ext cx="237230" cy="236592"/>
      </dsp:txXfrm>
    </dsp:sp>
    <dsp:sp modelId="{A2623DA6-3717-47AF-AF40-F391A93E4F69}">
      <dsp:nvSpPr>
        <dsp:cNvPr id="0" name=""/>
        <dsp:cNvSpPr/>
      </dsp:nvSpPr>
      <dsp:spPr>
        <a:xfrm>
          <a:off x="5378205" y="1595783"/>
          <a:ext cx="1594284" cy="956570"/>
        </a:xfrm>
        <a:prstGeom prst="roundRect">
          <a:avLst>
            <a:gd name="adj" fmla="val 10000"/>
          </a:avLst>
        </a:prstGeom>
        <a:solidFill>
          <a:schemeClr val="accent2">
            <a:hueOff val="2006365"/>
            <a:satOff val="-2502"/>
            <a:lumOff val="58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 </a:t>
          </a:r>
          <a:r>
            <a:rPr lang="en-US" sz="1400" kern="1200">
              <a:solidFill>
                <a:srgbClr val="000000"/>
              </a:solidFill>
              <a:latin typeface="Calibri"/>
            </a:rPr>
            <a:t>Quick Explanation from handwritten Example</a:t>
          </a:r>
          <a:endParaRPr lang="en-US" sz="1400" kern="1200">
            <a:solidFill>
              <a:srgbClr val="000000"/>
            </a:solidFill>
          </a:endParaRPr>
        </a:p>
      </dsp:txBody>
      <dsp:txXfrm>
        <a:off x="5406222" y="1623800"/>
        <a:ext cx="1538250" cy="900536"/>
      </dsp:txXfrm>
    </dsp:sp>
    <dsp:sp modelId="{759B5412-2ADC-42B4-BC97-1B78075AE833}">
      <dsp:nvSpPr>
        <dsp:cNvPr id="0" name=""/>
        <dsp:cNvSpPr/>
      </dsp:nvSpPr>
      <dsp:spPr>
        <a:xfrm rot="10800000">
          <a:off x="4899920" y="1876377"/>
          <a:ext cx="337988" cy="395382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 rot="10800000">
        <a:off x="5001316" y="1955453"/>
        <a:ext cx="236592" cy="237230"/>
      </dsp:txXfrm>
    </dsp:sp>
    <dsp:sp modelId="{3FED565F-42FC-4FD7-9EAF-18DD1D82D379}">
      <dsp:nvSpPr>
        <dsp:cNvPr id="0" name=""/>
        <dsp:cNvSpPr/>
      </dsp:nvSpPr>
      <dsp:spPr>
        <a:xfrm>
          <a:off x="3146207" y="1595783"/>
          <a:ext cx="1594284" cy="956570"/>
        </a:xfrm>
        <a:prstGeom prst="roundRect">
          <a:avLst>
            <a:gd name="adj" fmla="val 10000"/>
          </a:avLst>
        </a:prstGeom>
        <a:solidFill>
          <a:schemeClr val="accent2">
            <a:hueOff val="2675154"/>
            <a:satOff val="-3337"/>
            <a:lumOff val="78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latin typeface="Calibri"/>
            </a:rPr>
            <a:t>Code Structure</a:t>
          </a:r>
        </a:p>
      </dsp:txBody>
      <dsp:txXfrm>
        <a:off x="3174224" y="1623800"/>
        <a:ext cx="1538250" cy="900536"/>
      </dsp:txXfrm>
    </dsp:sp>
    <dsp:sp modelId="{DE42E303-5749-4FA8-A582-062BA17D8C8D}">
      <dsp:nvSpPr>
        <dsp:cNvPr id="0" name=""/>
        <dsp:cNvSpPr/>
      </dsp:nvSpPr>
      <dsp:spPr>
        <a:xfrm rot="10800000">
          <a:off x="2667922" y="1876377"/>
          <a:ext cx="337988" cy="395382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 rot="10800000">
        <a:off x="2769318" y="1955453"/>
        <a:ext cx="236592" cy="237230"/>
      </dsp:txXfrm>
    </dsp:sp>
    <dsp:sp modelId="{2C228891-F29C-4ABF-B949-5BDB3E58DA0D}">
      <dsp:nvSpPr>
        <dsp:cNvPr id="0" name=""/>
        <dsp:cNvSpPr/>
      </dsp:nvSpPr>
      <dsp:spPr>
        <a:xfrm>
          <a:off x="914210" y="1595783"/>
          <a:ext cx="1594284" cy="956570"/>
        </a:xfrm>
        <a:prstGeom prst="roundRect">
          <a:avLst>
            <a:gd name="adj" fmla="val 10000"/>
          </a:avLst>
        </a:prstGeom>
        <a:solidFill>
          <a:schemeClr val="accent2">
            <a:hueOff val="3343942"/>
            <a:satOff val="-4171"/>
            <a:lumOff val="981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solidFill>
                <a:schemeClr val="tx1"/>
              </a:solidFill>
              <a:latin typeface="Calibri"/>
            </a:rPr>
            <a:t>Live demo</a:t>
          </a:r>
        </a:p>
      </dsp:txBody>
      <dsp:txXfrm>
        <a:off x="942227" y="1623800"/>
        <a:ext cx="1538250" cy="900536"/>
      </dsp:txXfrm>
    </dsp:sp>
    <dsp:sp modelId="{B42B244F-7173-4F35-99B0-EE4D387ABB8C}">
      <dsp:nvSpPr>
        <dsp:cNvPr id="0" name=""/>
        <dsp:cNvSpPr/>
      </dsp:nvSpPr>
      <dsp:spPr>
        <a:xfrm rot="5400000">
          <a:off x="1542358" y="2663954"/>
          <a:ext cx="337988" cy="395382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3901266"/>
            <a:satOff val="-4866"/>
            <a:lumOff val="1144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 rot="-5400000">
        <a:off x="1592737" y="2692651"/>
        <a:ext cx="237230" cy="236592"/>
      </dsp:txXfrm>
    </dsp:sp>
    <dsp:sp modelId="{8330E03A-B4C2-433C-8CF2-FEFC4264131C}">
      <dsp:nvSpPr>
        <dsp:cNvPr id="0" name=""/>
        <dsp:cNvSpPr/>
      </dsp:nvSpPr>
      <dsp:spPr>
        <a:xfrm>
          <a:off x="914210" y="3190067"/>
          <a:ext cx="1594284" cy="956570"/>
        </a:xfrm>
        <a:prstGeom prst="roundRect">
          <a:avLst>
            <a:gd name="adj" fmla="val 10000"/>
          </a:avLst>
        </a:prstGeom>
        <a:solidFill>
          <a:schemeClr val="accent2">
            <a:hueOff val="4012731"/>
            <a:satOff val="-5005"/>
            <a:lumOff val="1177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solidFill>
                <a:schemeClr val="tx1"/>
              </a:solidFill>
              <a:latin typeface="Calibri"/>
            </a:rPr>
            <a:t>Graph Results/Output</a:t>
          </a:r>
        </a:p>
      </dsp:txBody>
      <dsp:txXfrm>
        <a:off x="942227" y="3218084"/>
        <a:ext cx="1538250" cy="900536"/>
      </dsp:txXfrm>
    </dsp:sp>
    <dsp:sp modelId="{C1EEC528-CCC8-4176-8699-2E1BA8459A5F}">
      <dsp:nvSpPr>
        <dsp:cNvPr id="0" name=""/>
        <dsp:cNvSpPr/>
      </dsp:nvSpPr>
      <dsp:spPr>
        <a:xfrm>
          <a:off x="2648791" y="3470661"/>
          <a:ext cx="337988" cy="395382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>
        <a:off x="2648791" y="3549737"/>
        <a:ext cx="236592" cy="237230"/>
      </dsp:txXfrm>
    </dsp:sp>
    <dsp:sp modelId="{000DD56B-2743-4459-B6FB-8481B782FB1F}">
      <dsp:nvSpPr>
        <dsp:cNvPr id="0" name=""/>
        <dsp:cNvSpPr/>
      </dsp:nvSpPr>
      <dsp:spPr>
        <a:xfrm>
          <a:off x="3146207" y="3190067"/>
          <a:ext cx="1594284" cy="956570"/>
        </a:xfrm>
        <a:prstGeom prst="roundRect">
          <a:avLst>
            <a:gd name="adj" fmla="val 10000"/>
          </a:avLst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solidFill>
                <a:schemeClr val="tx1"/>
              </a:solidFill>
              <a:latin typeface="Calibri"/>
            </a:rPr>
            <a:t> Conclusion </a:t>
          </a:r>
        </a:p>
      </dsp:txBody>
      <dsp:txXfrm>
        <a:off x="3174224" y="3218084"/>
        <a:ext cx="1538250" cy="90053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341E7FB-0EAF-40B9-857C-870CA963E0FE}">
      <dsp:nvSpPr>
        <dsp:cNvPr id="0" name=""/>
        <dsp:cNvSpPr/>
      </dsp:nvSpPr>
      <dsp:spPr>
        <a:xfrm>
          <a:off x="0" y="0"/>
          <a:ext cx="6336792" cy="81467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 graph search algorithm that finds the shortest path from a starting vertex to all other vertices in a weighted graph.</a:t>
          </a:r>
        </a:p>
      </dsp:txBody>
      <dsp:txXfrm>
        <a:off x="23861" y="23861"/>
        <a:ext cx="5362379" cy="766951"/>
      </dsp:txXfrm>
    </dsp:sp>
    <dsp:sp modelId="{6AA29A0D-5268-43AC-AB11-717EBD212C20}">
      <dsp:nvSpPr>
        <dsp:cNvPr id="0" name=""/>
        <dsp:cNvSpPr/>
      </dsp:nvSpPr>
      <dsp:spPr>
        <a:xfrm>
          <a:off x="473202" y="927822"/>
          <a:ext cx="6336792" cy="81467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Works only with non-negative edge weights.</a:t>
          </a:r>
        </a:p>
      </dsp:txBody>
      <dsp:txXfrm>
        <a:off x="497063" y="951683"/>
        <a:ext cx="5286330" cy="766951"/>
      </dsp:txXfrm>
    </dsp:sp>
    <dsp:sp modelId="{1F7C0B6F-EC27-4145-9803-0988F50882AE}">
      <dsp:nvSpPr>
        <dsp:cNvPr id="0" name=""/>
        <dsp:cNvSpPr/>
      </dsp:nvSpPr>
      <dsp:spPr>
        <a:xfrm>
          <a:off x="946404" y="1855644"/>
          <a:ext cx="6336792" cy="81467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Uses a </a:t>
          </a:r>
          <a:r>
            <a:rPr lang="en-US" sz="1700" b="1" kern="1200"/>
            <a:t>priority queue</a:t>
          </a:r>
          <a:r>
            <a:rPr lang="en-US" sz="1700" kern="1200"/>
            <a:t> to explore vertices with the </a:t>
          </a:r>
          <a:r>
            <a:rPr lang="en-US" sz="1700" b="1" kern="1200"/>
            <a:t>lowest known distance</a:t>
          </a:r>
          <a:r>
            <a:rPr lang="en-US" sz="1700" kern="1200"/>
            <a:t> first.</a:t>
          </a:r>
        </a:p>
      </dsp:txBody>
      <dsp:txXfrm>
        <a:off x="970265" y="1879505"/>
        <a:ext cx="5286330" cy="766951"/>
      </dsp:txXfrm>
    </dsp:sp>
    <dsp:sp modelId="{EE2B0775-98E3-4A97-9A80-F4748CC313C4}">
      <dsp:nvSpPr>
        <dsp:cNvPr id="0" name=""/>
        <dsp:cNvSpPr/>
      </dsp:nvSpPr>
      <dsp:spPr>
        <a:xfrm>
          <a:off x="1419605" y="2783467"/>
          <a:ext cx="6336792" cy="81467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Continuously updates the shortest path to each vertex based on edge weights.</a:t>
          </a:r>
        </a:p>
      </dsp:txBody>
      <dsp:txXfrm>
        <a:off x="1443466" y="2807328"/>
        <a:ext cx="5286330" cy="766951"/>
      </dsp:txXfrm>
    </dsp:sp>
    <dsp:sp modelId="{D33A3D58-0CD5-4C06-B18E-F0780D56D8DB}">
      <dsp:nvSpPr>
        <dsp:cNvPr id="0" name=""/>
        <dsp:cNvSpPr/>
      </dsp:nvSpPr>
      <dsp:spPr>
        <a:xfrm>
          <a:off x="1892808" y="3711289"/>
          <a:ext cx="6336792" cy="81467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Guarantees the optimal path from the source to each node.</a:t>
          </a:r>
        </a:p>
      </dsp:txBody>
      <dsp:txXfrm>
        <a:off x="1916669" y="3735150"/>
        <a:ext cx="5286330" cy="766951"/>
      </dsp:txXfrm>
    </dsp:sp>
    <dsp:sp modelId="{56B44EA1-0579-48FF-87B2-3010FEF46373}">
      <dsp:nvSpPr>
        <dsp:cNvPr id="0" name=""/>
        <dsp:cNvSpPr/>
      </dsp:nvSpPr>
      <dsp:spPr>
        <a:xfrm>
          <a:off x="5807254" y="595164"/>
          <a:ext cx="529537" cy="529537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/>
        </a:p>
      </dsp:txBody>
      <dsp:txXfrm>
        <a:off x="5926400" y="595164"/>
        <a:ext cx="291245" cy="398477"/>
      </dsp:txXfrm>
    </dsp:sp>
    <dsp:sp modelId="{8DA97D53-185C-4E19-B1CD-C70347F63209}">
      <dsp:nvSpPr>
        <dsp:cNvPr id="0" name=""/>
        <dsp:cNvSpPr/>
      </dsp:nvSpPr>
      <dsp:spPr>
        <a:xfrm>
          <a:off x="6280456" y="1522986"/>
          <a:ext cx="529537" cy="529537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/>
        </a:p>
      </dsp:txBody>
      <dsp:txXfrm>
        <a:off x="6399602" y="1522986"/>
        <a:ext cx="291245" cy="398477"/>
      </dsp:txXfrm>
    </dsp:sp>
    <dsp:sp modelId="{A1415CD6-AC92-4C8E-A9F1-2F9DEFF40FBE}">
      <dsp:nvSpPr>
        <dsp:cNvPr id="0" name=""/>
        <dsp:cNvSpPr/>
      </dsp:nvSpPr>
      <dsp:spPr>
        <a:xfrm>
          <a:off x="6753658" y="2437231"/>
          <a:ext cx="529537" cy="529537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/>
        </a:p>
      </dsp:txBody>
      <dsp:txXfrm>
        <a:off x="6872804" y="2437231"/>
        <a:ext cx="291245" cy="398477"/>
      </dsp:txXfrm>
    </dsp:sp>
    <dsp:sp modelId="{B8BD277D-A431-44DA-B051-94827710E897}">
      <dsp:nvSpPr>
        <dsp:cNvPr id="0" name=""/>
        <dsp:cNvSpPr/>
      </dsp:nvSpPr>
      <dsp:spPr>
        <a:xfrm>
          <a:off x="7226860" y="3374105"/>
          <a:ext cx="529537" cy="529537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/>
        </a:p>
      </dsp:txBody>
      <dsp:txXfrm>
        <a:off x="7346006" y="3374105"/>
        <a:ext cx="291245" cy="39847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FF91F95-5FEB-4439-ADED-FCCF9D6DEBB8}">
      <dsp:nvSpPr>
        <dsp:cNvPr id="0" name=""/>
        <dsp:cNvSpPr/>
      </dsp:nvSpPr>
      <dsp:spPr>
        <a:xfrm>
          <a:off x="0" y="1585412"/>
          <a:ext cx="8229600" cy="135513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721298C-2416-43EC-8FBC-42DE7AE09B91}">
      <dsp:nvSpPr>
        <dsp:cNvPr id="0" name=""/>
        <dsp:cNvSpPr/>
      </dsp:nvSpPr>
      <dsp:spPr>
        <a:xfrm>
          <a:off x="409929" y="1890318"/>
          <a:ext cx="745326" cy="74532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24AC2A-C43A-4827-A3F5-93EE8A20F755}">
      <dsp:nvSpPr>
        <dsp:cNvPr id="0" name=""/>
        <dsp:cNvSpPr/>
      </dsp:nvSpPr>
      <dsp:spPr>
        <a:xfrm>
          <a:off x="1565184" y="1585412"/>
          <a:ext cx="3703320" cy="13551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3419" tIns="143419" rIns="143419" bIns="143419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A very simple summary of the structure and methods used in our code.</a:t>
          </a:r>
        </a:p>
      </dsp:txBody>
      <dsp:txXfrm>
        <a:off x="1565184" y="1585412"/>
        <a:ext cx="3703320" cy="1355138"/>
      </dsp:txXfrm>
    </dsp:sp>
    <dsp:sp modelId="{F691F961-E7BE-4107-AC14-A0147FCD091D}">
      <dsp:nvSpPr>
        <dsp:cNvPr id="0" name=""/>
        <dsp:cNvSpPr/>
      </dsp:nvSpPr>
      <dsp:spPr>
        <a:xfrm>
          <a:off x="5268504" y="1585412"/>
          <a:ext cx="2959565" cy="13551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3419" tIns="143419" rIns="143419" bIns="143419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Graph class encapsulates all functionality.</a:t>
          </a:r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main.cpp sets up two test graphs.</a:t>
          </a:r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Calls shortestPath and prints distance and path.</a:t>
          </a:r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print_path function used for formatted output.</a:t>
          </a:r>
        </a:p>
      </dsp:txBody>
      <dsp:txXfrm>
        <a:off x="5268504" y="1585412"/>
        <a:ext cx="2959565" cy="135513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39845FA-840A-41A4-83A9-6C90A3A0A277}">
      <dsp:nvSpPr>
        <dsp:cNvPr id="0" name=""/>
        <dsp:cNvSpPr/>
      </dsp:nvSpPr>
      <dsp:spPr>
        <a:xfrm>
          <a:off x="0" y="1878"/>
          <a:ext cx="8229600" cy="95204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EE62029-28DD-4F47-8859-31A9ED9E012E}">
      <dsp:nvSpPr>
        <dsp:cNvPr id="0" name=""/>
        <dsp:cNvSpPr/>
      </dsp:nvSpPr>
      <dsp:spPr>
        <a:xfrm>
          <a:off x="287993" y="216088"/>
          <a:ext cx="523623" cy="52362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552DC5-CC35-4F69-ADD4-B96F7E3764B9}">
      <dsp:nvSpPr>
        <dsp:cNvPr id="0" name=""/>
        <dsp:cNvSpPr/>
      </dsp:nvSpPr>
      <dsp:spPr>
        <a:xfrm>
          <a:off x="1099610" y="1878"/>
          <a:ext cx="7129989" cy="9520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0758" tIns="100758" rIns="100758" bIns="100758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We have successfully:</a:t>
          </a:r>
        </a:p>
      </dsp:txBody>
      <dsp:txXfrm>
        <a:off x="1099610" y="1878"/>
        <a:ext cx="7129989" cy="952043"/>
      </dsp:txXfrm>
    </dsp:sp>
    <dsp:sp modelId="{8B9FFC25-8704-428A-8F3D-F0E4FAAB5BA7}">
      <dsp:nvSpPr>
        <dsp:cNvPr id="0" name=""/>
        <dsp:cNvSpPr/>
      </dsp:nvSpPr>
      <dsp:spPr>
        <a:xfrm>
          <a:off x="0" y="1191932"/>
          <a:ext cx="8229600" cy="95204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27B3618-BC8B-452D-B6DF-DDF602537E3F}">
      <dsp:nvSpPr>
        <dsp:cNvPr id="0" name=""/>
        <dsp:cNvSpPr/>
      </dsp:nvSpPr>
      <dsp:spPr>
        <a:xfrm>
          <a:off x="287993" y="1406142"/>
          <a:ext cx="523623" cy="52362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A7E35C7-4B25-4E85-8C65-99172D3BF595}">
      <dsp:nvSpPr>
        <dsp:cNvPr id="0" name=""/>
        <dsp:cNvSpPr/>
      </dsp:nvSpPr>
      <dsp:spPr>
        <a:xfrm>
          <a:off x="1099610" y="1191932"/>
          <a:ext cx="7129989" cy="9520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0758" tIns="100758" rIns="100758" bIns="100758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Implemented a Graph ADT and Dijkstra’s Algorithm to compute shortest paths.</a:t>
          </a:r>
        </a:p>
      </dsp:txBody>
      <dsp:txXfrm>
        <a:off x="1099610" y="1191932"/>
        <a:ext cx="7129989" cy="952043"/>
      </dsp:txXfrm>
    </dsp:sp>
    <dsp:sp modelId="{098241C4-147B-4429-8F23-4547DC8F3A58}">
      <dsp:nvSpPr>
        <dsp:cNvPr id="0" name=""/>
        <dsp:cNvSpPr/>
      </dsp:nvSpPr>
      <dsp:spPr>
        <a:xfrm>
          <a:off x="0" y="2381986"/>
          <a:ext cx="8229600" cy="95204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F9A5BF8-6712-46B2-99FF-FB0E23023D23}">
      <dsp:nvSpPr>
        <dsp:cNvPr id="0" name=""/>
        <dsp:cNvSpPr/>
      </dsp:nvSpPr>
      <dsp:spPr>
        <a:xfrm>
          <a:off x="287993" y="2596196"/>
          <a:ext cx="523623" cy="52362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D764BDC-C53C-40E9-94BF-85B34510BC68}">
      <dsp:nvSpPr>
        <dsp:cNvPr id="0" name=""/>
        <dsp:cNvSpPr/>
      </dsp:nvSpPr>
      <dsp:spPr>
        <a:xfrm>
          <a:off x="1099610" y="2381986"/>
          <a:ext cx="7129989" cy="9520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0758" tIns="100758" rIns="100758" bIns="100758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Verified the algorithm with multiple test cases on two different graphs.</a:t>
          </a:r>
        </a:p>
      </dsp:txBody>
      <dsp:txXfrm>
        <a:off x="1099610" y="2381986"/>
        <a:ext cx="7129989" cy="952043"/>
      </dsp:txXfrm>
    </dsp:sp>
    <dsp:sp modelId="{F39C9428-356A-4B87-A059-1D0A45148EE4}">
      <dsp:nvSpPr>
        <dsp:cNvPr id="0" name=""/>
        <dsp:cNvSpPr/>
      </dsp:nvSpPr>
      <dsp:spPr>
        <a:xfrm>
          <a:off x="0" y="3572041"/>
          <a:ext cx="8229600" cy="95204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3F7A7C1-F880-41A4-92CB-B085624E1BD3}">
      <dsp:nvSpPr>
        <dsp:cNvPr id="0" name=""/>
        <dsp:cNvSpPr/>
      </dsp:nvSpPr>
      <dsp:spPr>
        <a:xfrm>
          <a:off x="287993" y="3786250"/>
          <a:ext cx="523623" cy="52362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C0593C4-1093-4C21-A910-BC5EE38AD8CB}">
      <dsp:nvSpPr>
        <dsp:cNvPr id="0" name=""/>
        <dsp:cNvSpPr/>
      </dsp:nvSpPr>
      <dsp:spPr>
        <a:xfrm>
          <a:off x="1099610" y="3572041"/>
          <a:ext cx="7129989" cy="9520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0758" tIns="100758" rIns="100758" bIns="100758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Gained deeper understanding of real-world </a:t>
          </a:r>
          <a:r>
            <a:rPr lang="en-US" sz="2200" kern="1200">
              <a:latin typeface="Calibri"/>
            </a:rPr>
            <a:t>application of a theoretical concept learned in class.</a:t>
          </a:r>
          <a:endParaRPr lang="en-US" sz="2200" kern="1200"/>
        </a:p>
      </dsp:txBody>
      <dsp:txXfrm>
        <a:off x="1099610" y="3572041"/>
        <a:ext cx="7129989" cy="95204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522B21E-B2B9-4C72-9A71-C87EFD1374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EB7D2A2-F448-44D4-938C-DC84CBCB3B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9144000" cy="441258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71AEA07-1E14-44B4-8E55-64EF049CD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7348" y="551962"/>
            <a:ext cx="8249304" cy="461854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293338"/>
            <a:ext cx="6858000" cy="3274592"/>
          </a:xfrm>
        </p:spPr>
        <p:txBody>
          <a:bodyPr anchor="ctr">
            <a:normAutofit/>
          </a:bodyPr>
          <a:lstStyle/>
          <a:p>
            <a:r>
              <a:rPr lang="en-US" sz="6300"/>
              <a:t>Dijkstra's Algorithm - Graph Shortest Path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5341885"/>
            <a:ext cx="6858000" cy="1005808"/>
          </a:xfrm>
        </p:spPr>
        <p:txBody>
          <a:bodyPr anchor="ctr">
            <a:normAutofit fontScale="85000" lnSpcReduction="20000"/>
          </a:bodyPr>
          <a:lstStyle/>
          <a:p>
            <a:pPr>
              <a:lnSpc>
                <a:spcPct val="90000"/>
              </a:lnSpc>
            </a:pPr>
            <a:r>
              <a:rPr lang="en-US" sz="1800">
                <a:solidFill>
                  <a:schemeClr val="tx1"/>
                </a:solidFill>
              </a:rPr>
              <a:t>COP 4530 Programming Project 4</a:t>
            </a:r>
            <a:endParaRPr lang="en-US" sz="1800">
              <a:solidFill>
                <a:schemeClr val="tx1"/>
              </a:solidFill>
              <a:ea typeface="Calibri"/>
              <a:cs typeface="Calibri"/>
            </a:endParaRPr>
          </a:p>
          <a:p>
            <a:pPr>
              <a:lnSpc>
                <a:spcPct val="90000"/>
              </a:lnSpc>
            </a:pPr>
            <a:r>
              <a:rPr lang="en-US" sz="1800">
                <a:solidFill>
                  <a:schemeClr val="tx1"/>
                </a:solidFill>
              </a:rPr>
              <a:t>Group Presentation</a:t>
            </a:r>
          </a:p>
          <a:p>
            <a:r>
              <a:rPr lang="en-US" sz="1200">
                <a:solidFill>
                  <a:schemeClr val="tx1"/>
                </a:solidFill>
                <a:latin typeface="Aptos"/>
                <a:ea typeface="Calibri"/>
                <a:cs typeface="Calibri"/>
              </a:rPr>
              <a:t>Miguel Mateo Osorio Vela U96987884</a:t>
            </a:r>
          </a:p>
          <a:p>
            <a:r>
              <a:rPr lang="en-US" sz="1200">
                <a:solidFill>
                  <a:schemeClr val="tx1"/>
                </a:solidFill>
                <a:latin typeface="Aptos"/>
                <a:ea typeface="Calibri"/>
                <a:cs typeface="Calibri"/>
              </a:rPr>
              <a:t>Evan Persad U28675784</a:t>
            </a:r>
          </a:p>
          <a:p>
            <a:r>
              <a:rPr lang="en-US" sz="1200">
                <a:solidFill>
                  <a:schemeClr val="tx1"/>
                </a:solidFill>
                <a:latin typeface="Aptos"/>
                <a:ea typeface="Calibri"/>
                <a:cs typeface="Calibri"/>
              </a:rPr>
              <a:t>Phong Lien U31559628</a:t>
            </a:r>
          </a:p>
          <a:p>
            <a:pPr>
              <a:lnSpc>
                <a:spcPct val="90000"/>
              </a:lnSpc>
            </a:pPr>
            <a:endParaRPr lang="en-US" sz="1800">
              <a:solidFill>
                <a:schemeClr val="tx1"/>
              </a:solidFill>
              <a:ea typeface="Calibri"/>
              <a:cs typeface="Calibri"/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7C8EA93-3210-4C62-99E9-153C275E3A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447348" y="6354708"/>
            <a:ext cx="8250174" cy="0"/>
          </a:xfrm>
          <a:prstGeom prst="line">
            <a:avLst/>
          </a:prstGeom>
          <a:ln w="1016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5D11FD0E-2D27-4A5A-949D-222E61ECB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1BC8109F-B452-45EE-8BB3-65433C0396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26075" y="-1"/>
            <a:ext cx="7817925" cy="5920155"/>
          </a:xfrm>
          <a:custGeom>
            <a:avLst/>
            <a:gdLst>
              <a:gd name="connsiteX0" fmla="*/ 10423900 w 10423900"/>
              <a:gd name="connsiteY0" fmla="*/ 0 h 5491534"/>
              <a:gd name="connsiteX1" fmla="*/ 3493157 w 10423900"/>
              <a:gd name="connsiteY1" fmla="*/ 0 h 5491534"/>
              <a:gd name="connsiteX2" fmla="*/ 3493018 w 10423900"/>
              <a:gd name="connsiteY2" fmla="*/ 31 h 5491534"/>
              <a:gd name="connsiteX3" fmla="*/ 3245493 w 10423900"/>
              <a:gd name="connsiteY3" fmla="*/ 104839 h 5491534"/>
              <a:gd name="connsiteX4" fmla="*/ 4434802 w 10423900"/>
              <a:gd name="connsiteY4" fmla="*/ 284558 h 5491534"/>
              <a:gd name="connsiteX5" fmla="*/ 4011937 w 10423900"/>
              <a:gd name="connsiteY5" fmla="*/ 395559 h 5491534"/>
              <a:gd name="connsiteX6" fmla="*/ 3573213 w 10423900"/>
              <a:gd name="connsiteY6" fmla="*/ 474847 h 5491534"/>
              <a:gd name="connsiteX7" fmla="*/ 3097489 w 10423900"/>
              <a:gd name="connsiteY7" fmla="*/ 532990 h 5491534"/>
              <a:gd name="connsiteX8" fmla="*/ 2664052 w 10423900"/>
              <a:gd name="connsiteY8" fmla="*/ 649279 h 5491534"/>
              <a:gd name="connsiteX9" fmla="*/ 3795218 w 10423900"/>
              <a:gd name="connsiteY9" fmla="*/ 696852 h 5491534"/>
              <a:gd name="connsiteX10" fmla="*/ 3208492 w 10423900"/>
              <a:gd name="connsiteY10" fmla="*/ 802568 h 5491534"/>
              <a:gd name="connsiteX11" fmla="*/ 2727483 w 10423900"/>
              <a:gd name="connsiteY11" fmla="*/ 939999 h 5491534"/>
              <a:gd name="connsiteX12" fmla="*/ 2389190 w 10423900"/>
              <a:gd name="connsiteY12" fmla="*/ 1003429 h 5491534"/>
              <a:gd name="connsiteX13" fmla="*/ 2029754 w 10423900"/>
              <a:gd name="connsiteY13" fmla="*/ 1019287 h 5491534"/>
              <a:gd name="connsiteX14" fmla="*/ 1945181 w 10423900"/>
              <a:gd name="connsiteY14" fmla="*/ 1119716 h 5491534"/>
              <a:gd name="connsiteX15" fmla="*/ 2056184 w 10423900"/>
              <a:gd name="connsiteY15" fmla="*/ 1225434 h 5491534"/>
              <a:gd name="connsiteX16" fmla="*/ 2225329 w 10423900"/>
              <a:gd name="connsiteY16" fmla="*/ 1236004 h 5491534"/>
              <a:gd name="connsiteX17" fmla="*/ 3234920 w 10423900"/>
              <a:gd name="connsiteY17" fmla="*/ 1262435 h 5491534"/>
              <a:gd name="connsiteX18" fmla="*/ 0 w 10423900"/>
              <a:gd name="connsiteY18" fmla="*/ 1495009 h 5491534"/>
              <a:gd name="connsiteX19" fmla="*/ 438724 w 10423900"/>
              <a:gd name="connsiteY19" fmla="*/ 1637728 h 5491534"/>
              <a:gd name="connsiteX20" fmla="*/ 586726 w 10423900"/>
              <a:gd name="connsiteY20" fmla="*/ 2028877 h 5491534"/>
              <a:gd name="connsiteX21" fmla="*/ 1125878 w 10423900"/>
              <a:gd name="connsiteY21" fmla="*/ 2250882 h 5491534"/>
              <a:gd name="connsiteX22" fmla="*/ 1474744 w 10423900"/>
              <a:gd name="connsiteY22" fmla="*/ 2330169 h 5491534"/>
              <a:gd name="connsiteX23" fmla="*/ 2272901 w 10423900"/>
              <a:gd name="connsiteY23" fmla="*/ 2446458 h 5491534"/>
              <a:gd name="connsiteX24" fmla="*/ 2389190 w 10423900"/>
              <a:gd name="connsiteY24" fmla="*/ 2636747 h 5491534"/>
              <a:gd name="connsiteX25" fmla="*/ 2489621 w 10423900"/>
              <a:gd name="connsiteY25" fmla="*/ 2848179 h 5491534"/>
              <a:gd name="connsiteX26" fmla="*/ 2701053 w 10423900"/>
              <a:gd name="connsiteY26" fmla="*/ 2985611 h 5491534"/>
              <a:gd name="connsiteX27" fmla="*/ 1057165 w 10423900"/>
              <a:gd name="connsiteY27" fmla="*/ 2964468 h 5491534"/>
              <a:gd name="connsiteX28" fmla="*/ 2912485 w 10423900"/>
              <a:gd name="connsiteY28" fmla="*/ 3408477 h 5491534"/>
              <a:gd name="connsiteX29" fmla="*/ 2748626 w 10423900"/>
              <a:gd name="connsiteY29" fmla="*/ 3582909 h 5491534"/>
              <a:gd name="connsiteX30" fmla="*/ 3763503 w 10423900"/>
              <a:gd name="connsiteY30" fmla="*/ 3820771 h 5491534"/>
              <a:gd name="connsiteX31" fmla="*/ 3219063 w 10423900"/>
              <a:gd name="connsiteY31" fmla="*/ 3847199 h 5491534"/>
              <a:gd name="connsiteX32" fmla="*/ 6385269 w 10423900"/>
              <a:gd name="connsiteY32" fmla="*/ 4840933 h 5491534"/>
              <a:gd name="connsiteX33" fmla="*/ 10285854 w 10423900"/>
              <a:gd name="connsiteY33" fmla="*/ 5471118 h 5491534"/>
              <a:gd name="connsiteX34" fmla="*/ 10423900 w 10423900"/>
              <a:gd name="connsiteY34" fmla="*/ 5491534 h 5491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423900" h="5491534">
                <a:moveTo>
                  <a:pt x="10423900" y="0"/>
                </a:moveTo>
                <a:lnTo>
                  <a:pt x="3493157" y="0"/>
                </a:lnTo>
                <a:lnTo>
                  <a:pt x="3493018" y="31"/>
                </a:lnTo>
                <a:cubicBezTo>
                  <a:pt x="3414969" y="12668"/>
                  <a:pt x="3328744" y="21588"/>
                  <a:pt x="3245493" y="104839"/>
                </a:cubicBezTo>
                <a:cubicBezTo>
                  <a:pt x="3668357" y="162984"/>
                  <a:pt x="4075366" y="51981"/>
                  <a:pt x="4434802" y="284558"/>
                </a:cubicBezTo>
                <a:cubicBezTo>
                  <a:pt x="4302656" y="400846"/>
                  <a:pt x="4154654" y="374416"/>
                  <a:pt x="4011937" y="395559"/>
                </a:cubicBezTo>
                <a:cubicBezTo>
                  <a:pt x="3863934" y="416704"/>
                  <a:pt x="3721217" y="453704"/>
                  <a:pt x="3573213" y="474847"/>
                </a:cubicBezTo>
                <a:cubicBezTo>
                  <a:pt x="3414639" y="501275"/>
                  <a:pt x="3256063" y="506562"/>
                  <a:pt x="3097489" y="532990"/>
                </a:cubicBezTo>
                <a:cubicBezTo>
                  <a:pt x="2965345" y="554135"/>
                  <a:pt x="2822627" y="517133"/>
                  <a:pt x="2664052" y="649279"/>
                </a:cubicBezTo>
                <a:cubicBezTo>
                  <a:pt x="3055203" y="744424"/>
                  <a:pt x="3409352" y="601706"/>
                  <a:pt x="3795218" y="696852"/>
                </a:cubicBezTo>
                <a:cubicBezTo>
                  <a:pt x="3567928" y="781425"/>
                  <a:pt x="3382924" y="754995"/>
                  <a:pt x="3208492" y="802568"/>
                </a:cubicBezTo>
                <a:cubicBezTo>
                  <a:pt x="3049916" y="850140"/>
                  <a:pt x="2859627" y="797282"/>
                  <a:pt x="2727483" y="939999"/>
                </a:cubicBezTo>
                <a:cubicBezTo>
                  <a:pt x="2627052" y="1051000"/>
                  <a:pt x="2521336" y="1066858"/>
                  <a:pt x="2389190" y="1003429"/>
                </a:cubicBezTo>
                <a:cubicBezTo>
                  <a:pt x="2272901" y="945284"/>
                  <a:pt x="2146043" y="961142"/>
                  <a:pt x="2029754" y="1019287"/>
                </a:cubicBezTo>
                <a:cubicBezTo>
                  <a:pt x="1987468" y="1040430"/>
                  <a:pt x="1945181" y="1066858"/>
                  <a:pt x="1945181" y="1119716"/>
                </a:cubicBezTo>
                <a:cubicBezTo>
                  <a:pt x="1945181" y="1193719"/>
                  <a:pt x="1998039" y="1214862"/>
                  <a:pt x="2056184" y="1225434"/>
                </a:cubicBezTo>
                <a:cubicBezTo>
                  <a:pt x="2109042" y="1236004"/>
                  <a:pt x="2172471" y="1246577"/>
                  <a:pt x="2225329" y="1236004"/>
                </a:cubicBezTo>
                <a:cubicBezTo>
                  <a:pt x="2563622" y="1177861"/>
                  <a:pt x="2896629" y="1273005"/>
                  <a:pt x="3234920" y="1262435"/>
                </a:cubicBezTo>
                <a:cubicBezTo>
                  <a:pt x="2172471" y="1489724"/>
                  <a:pt x="1099450" y="1415723"/>
                  <a:pt x="0" y="1495009"/>
                </a:cubicBezTo>
                <a:cubicBezTo>
                  <a:pt x="142717" y="1653583"/>
                  <a:pt x="327721" y="1521439"/>
                  <a:pt x="438724" y="1637728"/>
                </a:cubicBezTo>
                <a:cubicBezTo>
                  <a:pt x="333006" y="1880875"/>
                  <a:pt x="375293" y="2013020"/>
                  <a:pt x="586726" y="2028877"/>
                </a:cubicBezTo>
                <a:cubicBezTo>
                  <a:pt x="792873" y="2044734"/>
                  <a:pt x="1014877" y="1960161"/>
                  <a:pt x="1125878" y="2250882"/>
                </a:cubicBezTo>
                <a:cubicBezTo>
                  <a:pt x="1157593" y="2340740"/>
                  <a:pt x="1353170" y="2314312"/>
                  <a:pt x="1474744" y="2330169"/>
                </a:cubicBezTo>
                <a:cubicBezTo>
                  <a:pt x="1739034" y="2367170"/>
                  <a:pt x="2019183" y="2330169"/>
                  <a:pt x="2272901" y="2446458"/>
                </a:cubicBezTo>
                <a:cubicBezTo>
                  <a:pt x="2373332" y="2488744"/>
                  <a:pt x="2442048" y="2520459"/>
                  <a:pt x="2389190" y="2636747"/>
                </a:cubicBezTo>
                <a:cubicBezTo>
                  <a:pt x="2336332" y="2758321"/>
                  <a:pt x="2405048" y="2800607"/>
                  <a:pt x="2489621" y="2848179"/>
                </a:cubicBezTo>
                <a:cubicBezTo>
                  <a:pt x="2553051" y="2885180"/>
                  <a:pt x="2648195" y="2874609"/>
                  <a:pt x="2701053" y="2985611"/>
                </a:cubicBezTo>
                <a:cubicBezTo>
                  <a:pt x="2146043" y="2969753"/>
                  <a:pt x="1606888" y="2879895"/>
                  <a:pt x="1057165" y="2964468"/>
                </a:cubicBezTo>
                <a:cubicBezTo>
                  <a:pt x="1659748" y="3175900"/>
                  <a:pt x="2320474" y="3165328"/>
                  <a:pt x="2912485" y="3408477"/>
                </a:cubicBezTo>
                <a:cubicBezTo>
                  <a:pt x="2891342" y="3493050"/>
                  <a:pt x="2753911" y="3456048"/>
                  <a:pt x="2748626" y="3582909"/>
                </a:cubicBezTo>
                <a:cubicBezTo>
                  <a:pt x="3060489" y="3715055"/>
                  <a:pt x="3435782" y="3625195"/>
                  <a:pt x="3763503" y="3820771"/>
                </a:cubicBezTo>
                <a:cubicBezTo>
                  <a:pt x="3573213" y="3910629"/>
                  <a:pt x="3398782" y="3762626"/>
                  <a:pt x="3219063" y="3847199"/>
                </a:cubicBezTo>
                <a:cubicBezTo>
                  <a:pt x="3277208" y="3974060"/>
                  <a:pt x="5909545" y="4756360"/>
                  <a:pt x="6385269" y="4840933"/>
                </a:cubicBezTo>
                <a:cubicBezTo>
                  <a:pt x="7171204" y="4982659"/>
                  <a:pt x="9157515" y="5302348"/>
                  <a:pt x="10285854" y="5471118"/>
                </a:cubicBezTo>
                <a:lnTo>
                  <a:pt x="10423900" y="5491534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93418" y="279400"/>
            <a:ext cx="4021932" cy="1892300"/>
          </a:xfrm>
        </p:spPr>
        <p:txBody>
          <a:bodyPr>
            <a:normAutofit/>
          </a:bodyPr>
          <a:lstStyle/>
          <a:p>
            <a:r>
              <a:rPr lang="en-US"/>
              <a:t>Overview</a:t>
            </a:r>
          </a:p>
        </p:txBody>
      </p:sp>
      <p:graphicFrame>
        <p:nvGraphicFramePr>
          <p:cNvPr id="19" name="Content Placeholder 2">
            <a:extLst>
              <a:ext uri="{FF2B5EF4-FFF2-40B4-BE49-F238E27FC236}">
                <a16:creationId xmlns:a16="http://schemas.microsoft.com/office/drawing/2014/main" id="{3C56E49F-7D51-14A6-BF36-E598B957BDB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43609899"/>
              </p:ext>
            </p:extLst>
          </p:nvPr>
        </p:nvGraphicFramePr>
        <p:xfrm>
          <a:off x="628650" y="2028825"/>
          <a:ext cx="7886700" cy="41481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FA67CD3-AB4E-4A7A-BEB8-53C445D8C4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60045"/>
            <a:ext cx="4694659" cy="5734050"/>
          </a:xfrm>
          <a:prstGeom prst="rect">
            <a:avLst/>
          </a:prstGeom>
          <a:gradFill>
            <a:gsLst>
              <a:gs pos="0">
                <a:schemeClr val="accent1">
                  <a:lumMod val="100000"/>
                  <a:alpha val="82000"/>
                </a:schemeClr>
              </a:gs>
              <a:gs pos="25000">
                <a:schemeClr val="accent1">
                  <a:alpha val="60000"/>
                </a:schemeClr>
              </a:gs>
              <a:gs pos="94000">
                <a:schemeClr val="bg2">
                  <a:lumMod val="75000"/>
                </a:schemeClr>
              </a:gs>
              <a:gs pos="100000">
                <a:schemeClr val="bg2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7CF545F-9C2E-4446-97CD-AD92990C2B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299"/>
          <a:stretch/>
        </p:blipFill>
        <p:spPr>
          <a:xfrm>
            <a:off x="-1" y="857250"/>
            <a:ext cx="9144001" cy="57340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0578" y="1257300"/>
            <a:ext cx="3988849" cy="1381125"/>
          </a:xfrm>
        </p:spPr>
        <p:txBody>
          <a:bodyPr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en-US">
                <a:solidFill>
                  <a:srgbClr val="000000"/>
                </a:solidFill>
              </a:rPr>
              <a:t>Our Project Algorithm Will Achieve</a:t>
            </a:r>
          </a:p>
        </p:txBody>
      </p:sp>
      <p:sp>
        <p:nvSpPr>
          <p:cNvPr id="14" name="Freeform 62">
            <a:extLst>
              <a:ext uri="{FF2B5EF4-FFF2-40B4-BE49-F238E27FC236}">
                <a16:creationId xmlns:a16="http://schemas.microsoft.com/office/drawing/2014/main" id="{339C8D78-A644-462F-B674-F440635E53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9525" y="1468363"/>
            <a:ext cx="4180922" cy="4515805"/>
          </a:xfrm>
          <a:custGeom>
            <a:avLst/>
            <a:gdLst>
              <a:gd name="connsiteX0" fmla="*/ 2299956 w 5000438"/>
              <a:gd name="connsiteY0" fmla="*/ 0 h 5400962"/>
              <a:gd name="connsiteX1" fmla="*/ 5000438 w 5000438"/>
              <a:gd name="connsiteY1" fmla="*/ 2700481 h 5400962"/>
              <a:gd name="connsiteX2" fmla="*/ 2299956 w 5000438"/>
              <a:gd name="connsiteY2" fmla="*/ 5400962 h 5400962"/>
              <a:gd name="connsiteX3" fmla="*/ 60675 w 5000438"/>
              <a:gd name="connsiteY3" fmla="*/ 4210346 h 5400962"/>
              <a:gd name="connsiteX4" fmla="*/ 0 w 5000438"/>
              <a:gd name="connsiteY4" fmla="*/ 4110472 h 5400962"/>
              <a:gd name="connsiteX5" fmla="*/ 0 w 5000438"/>
              <a:gd name="connsiteY5" fmla="*/ 1290491 h 5400962"/>
              <a:gd name="connsiteX6" fmla="*/ 60675 w 5000438"/>
              <a:gd name="connsiteY6" fmla="*/ 1190617 h 5400962"/>
              <a:gd name="connsiteX7" fmla="*/ 2299956 w 5000438"/>
              <a:gd name="connsiteY7" fmla="*/ 0 h 540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000438" h="5400962">
                <a:moveTo>
                  <a:pt x="2299956" y="0"/>
                </a:moveTo>
                <a:cubicBezTo>
                  <a:pt x="3791390" y="0"/>
                  <a:pt x="5000438" y="1209047"/>
                  <a:pt x="5000438" y="2700481"/>
                </a:cubicBezTo>
                <a:cubicBezTo>
                  <a:pt x="5000438" y="4191915"/>
                  <a:pt x="3791390" y="5400962"/>
                  <a:pt x="2299956" y="5400962"/>
                </a:cubicBezTo>
                <a:cubicBezTo>
                  <a:pt x="1367810" y="5400962"/>
                  <a:pt x="545971" y="4928678"/>
                  <a:pt x="60675" y="4210346"/>
                </a:cubicBezTo>
                <a:lnTo>
                  <a:pt x="0" y="4110472"/>
                </a:lnTo>
                <a:lnTo>
                  <a:pt x="0" y="1290491"/>
                </a:lnTo>
                <a:lnTo>
                  <a:pt x="60675" y="1190617"/>
                </a:lnTo>
                <a:cubicBezTo>
                  <a:pt x="545971" y="472284"/>
                  <a:pt x="1367810" y="0"/>
                  <a:pt x="2299956" y="0"/>
                </a:cubicBezTo>
                <a:close/>
              </a:path>
            </a:pathLst>
          </a:custGeom>
          <a:solidFill>
            <a:srgbClr val="FFFFFF"/>
          </a:solidFill>
          <a:ln>
            <a:gradFill>
              <a:gsLst>
                <a:gs pos="0">
                  <a:schemeClr val="accent1">
                    <a:lumMod val="40000"/>
                    <a:lumOff val="60000"/>
                  </a:schemeClr>
                </a:gs>
                <a:gs pos="23000">
                  <a:schemeClr val="accent1">
                    <a:lumMod val="45000"/>
                    <a:lumOff val="55000"/>
                  </a:schemeClr>
                </a:gs>
                <a:gs pos="83000">
                  <a:schemeClr val="bg2">
                    <a:lumMod val="85000"/>
                  </a:schemeClr>
                </a:gs>
                <a:gs pos="100000">
                  <a:schemeClr val="bg2">
                    <a:lumMod val="85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/>
          </a:p>
        </p:txBody>
      </p:sp>
      <p:pic>
        <p:nvPicPr>
          <p:cNvPr id="7" name="Graphic 6" descr="Hourglass">
            <a:extLst>
              <a:ext uri="{FF2B5EF4-FFF2-40B4-BE49-F238E27FC236}">
                <a16:creationId xmlns:a16="http://schemas.microsoft.com/office/drawing/2014/main" id="{E2F46449-E94C-7F35-8C29-2037D09711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9490" y="2079067"/>
            <a:ext cx="3026740" cy="302674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0579" y="2947260"/>
            <a:ext cx="4003614" cy="2927188"/>
          </a:xfrm>
        </p:spPr>
        <p:txBody>
          <a:bodyPr anchor="ctr">
            <a:normAutofit/>
          </a:bodyPr>
          <a:lstStyle/>
          <a:p>
            <a:endParaRPr lang="en-US" sz="1500">
              <a:solidFill>
                <a:srgbClr val="000000"/>
              </a:solidFill>
            </a:endParaRPr>
          </a:p>
          <a:p>
            <a:r>
              <a:rPr lang="en-US" sz="1500">
                <a:solidFill>
                  <a:srgbClr val="000000"/>
                </a:solidFill>
              </a:rPr>
              <a:t>The shortest path from a source to all other nodes.</a:t>
            </a:r>
            <a:endParaRPr lang="en-US" sz="1500">
              <a:solidFill>
                <a:srgbClr val="000000"/>
              </a:solidFill>
              <a:ea typeface="Calibri"/>
              <a:cs typeface="Calibri"/>
            </a:endParaRPr>
          </a:p>
          <a:p>
            <a:r>
              <a:rPr lang="en-US" sz="1500">
                <a:solidFill>
                  <a:srgbClr val="000000"/>
                </a:solidFill>
              </a:rPr>
              <a:t>The use of priority queue (min-heap) to explore cheapest paths first.</a:t>
            </a:r>
            <a:endParaRPr lang="en-US" sz="1500">
              <a:solidFill>
                <a:srgbClr val="000000"/>
              </a:solidFill>
              <a:ea typeface="Calibri"/>
              <a:cs typeface="Calibri"/>
            </a:endParaRPr>
          </a:p>
          <a:p>
            <a:r>
              <a:rPr lang="en-US" sz="1500">
                <a:solidFill>
                  <a:srgbClr val="000000"/>
                </a:solidFill>
              </a:rPr>
              <a:t>Have each vertex visited once; updates shortest known distances.</a:t>
            </a:r>
            <a:endParaRPr lang="en-US" sz="1500">
              <a:solidFill>
                <a:srgbClr val="000000"/>
              </a:solidFill>
              <a:ea typeface="Calibri"/>
              <a:cs typeface="Calibri"/>
            </a:endParaRPr>
          </a:p>
          <a:p>
            <a:r>
              <a:rPr lang="en-US" sz="1500">
                <a:solidFill>
                  <a:srgbClr val="000000"/>
                </a:solidFill>
              </a:rPr>
              <a:t>Stores path and distance to each vertex during traversal.</a:t>
            </a:r>
            <a:endParaRPr lang="en-US" sz="1500">
              <a:solidFill>
                <a:srgbClr val="000000"/>
              </a:solidFill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114ED94A-C85D-4CD3-4205-438D21CE6B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4412" y="-1"/>
            <a:ext cx="3909949" cy="6883030"/>
            <a:chOff x="-19217" y="-1"/>
            <a:chExt cx="5213267" cy="6883030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E642BDB2-BF67-1D53-1C70-0B41D709E4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06" y="0"/>
              <a:ext cx="5204956" cy="6883029"/>
            </a:xfrm>
            <a:prstGeom prst="rect">
              <a:avLst/>
            </a:prstGeom>
            <a:gradFill>
              <a:gsLst>
                <a:gs pos="7000">
                  <a:schemeClr val="accent2"/>
                </a:gs>
                <a:gs pos="100000">
                  <a:schemeClr val="accent5"/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58E0D8CE-5DBF-B664-EB48-C29BF8AB48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-19217" y="1731909"/>
              <a:ext cx="5204963" cy="5144400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75000"/>
                  </a:schemeClr>
                </a:gs>
                <a:gs pos="60000">
                  <a:schemeClr val="accent5">
                    <a:lumMod val="60000"/>
                    <a:lumOff val="40000"/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DFD140CE-7DE2-C88F-5EAE-F45EB69E6A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10" y="6723"/>
              <a:ext cx="3834567" cy="6876300"/>
            </a:xfrm>
            <a:prstGeom prst="rect">
              <a:avLst/>
            </a:prstGeom>
            <a:gradFill flip="none" rotWithShape="1">
              <a:gsLst>
                <a:gs pos="3000">
                  <a:schemeClr val="accent2">
                    <a:lumMod val="60000"/>
                    <a:lumOff val="40000"/>
                    <a:alpha val="78000"/>
                  </a:schemeClr>
                </a:gs>
                <a:gs pos="42000">
                  <a:schemeClr val="accent2">
                    <a:alpha val="0"/>
                  </a:schemeClr>
                </a:gs>
              </a:gsLst>
              <a:lin ang="3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557E87E3-413F-10EF-63D8-6016E986C9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-844601" y="833689"/>
              <a:ext cx="6872341" cy="5204961"/>
            </a:xfrm>
            <a:prstGeom prst="rect">
              <a:avLst/>
            </a:prstGeom>
            <a:gradFill>
              <a:gsLst>
                <a:gs pos="0">
                  <a:schemeClr val="accent5">
                    <a:alpha val="86000"/>
                  </a:schemeClr>
                </a:gs>
                <a:gs pos="57000">
                  <a:schemeClr val="accent2">
                    <a:alpha val="0"/>
                  </a:schemeClr>
                </a:gs>
              </a:gsLst>
              <a:lin ang="13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613" y="739835"/>
            <a:ext cx="2776935" cy="1616203"/>
          </a:xfrm>
        </p:spPr>
        <p:txBody>
          <a:bodyPr anchor="b">
            <a:normAutofit/>
          </a:bodyPr>
          <a:lstStyle/>
          <a:p>
            <a:r>
              <a:rPr lang="en-US" sz="2800">
                <a:solidFill>
                  <a:srgbClr val="FFFFFF"/>
                </a:solidFill>
              </a:rPr>
              <a:t>Graph ADT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6613" y="2459116"/>
            <a:ext cx="2776934" cy="3524823"/>
          </a:xfrm>
        </p:spPr>
        <p:txBody>
          <a:bodyPr>
            <a:normAutofit/>
          </a:bodyPr>
          <a:lstStyle/>
          <a:p>
            <a:endParaRPr lang="en-US" sz="1700">
              <a:solidFill>
                <a:srgbClr val="FFFFFF"/>
              </a:solidFill>
            </a:endParaRPr>
          </a:p>
          <a:p>
            <a:r>
              <a:rPr lang="en-US" sz="1700">
                <a:solidFill>
                  <a:srgbClr val="FFFFFF"/>
                </a:solidFill>
              </a:rPr>
              <a:t>Vertices are stored with unique string labels.</a:t>
            </a:r>
            <a:endParaRPr lang="en-US" sz="1700">
              <a:solidFill>
                <a:srgbClr val="FFFFFF"/>
              </a:solidFill>
              <a:ea typeface="Calibri"/>
              <a:cs typeface="Calibri"/>
            </a:endParaRPr>
          </a:p>
          <a:p>
            <a:r>
              <a:rPr lang="en-US" sz="1700">
                <a:solidFill>
                  <a:srgbClr val="FFFFFF"/>
                </a:solidFill>
              </a:rPr>
              <a:t>Edges store pair of vertex labels and weights.</a:t>
            </a:r>
          </a:p>
          <a:p>
            <a:r>
              <a:rPr lang="en-US" sz="1700">
                <a:solidFill>
                  <a:srgbClr val="FFFFFF"/>
                </a:solidFill>
              </a:rPr>
              <a:t>Undirected graph represented using adjacency lists.</a:t>
            </a:r>
          </a:p>
          <a:p>
            <a:r>
              <a:rPr lang="en-US" sz="1700">
                <a:solidFill>
                  <a:srgbClr val="FFFFFF"/>
                </a:solidFill>
              </a:rPr>
              <a:t>Implements add/remove vertex and edge functionality.</a:t>
            </a:r>
          </a:p>
        </p:txBody>
      </p:sp>
      <p:pic>
        <p:nvPicPr>
          <p:cNvPr id="5" name="Picture 4" descr="Web of wires connecting pins">
            <a:extLst>
              <a:ext uri="{FF2B5EF4-FFF2-40B4-BE49-F238E27FC236}">
                <a16:creationId xmlns:a16="http://schemas.microsoft.com/office/drawing/2014/main" id="{ED9EE10C-4ECF-3994-CC54-46C561B123D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606" r="40180" b="-1"/>
          <a:stretch/>
        </p:blipFill>
        <p:spPr>
          <a:xfrm>
            <a:off x="4544212" y="787114"/>
            <a:ext cx="3974782" cy="528377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8F932E-C98F-D86C-4CB9-A4D9A80CF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>
                <a:ea typeface="Calibri"/>
                <a:cs typeface="Calibri"/>
              </a:rPr>
              <a:t>What is Dijkstra’s Algorithm?</a:t>
            </a:r>
            <a:br>
              <a:rPr lang="en-US" sz="4000">
                <a:ea typeface="Calibri"/>
                <a:cs typeface="Calibri"/>
              </a:rPr>
            </a:br>
            <a:r>
              <a:rPr lang="en-US" sz="4000">
                <a:ea typeface="Calibri"/>
                <a:cs typeface="Calibri"/>
              </a:rPr>
              <a:t>(Simplified)</a:t>
            </a:r>
          </a:p>
          <a:p>
            <a:endParaRPr lang="en-US">
              <a:ea typeface="Calibri"/>
              <a:cs typeface="Calibri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4ABEBE5-CF87-8199-C90E-2B44CC7EF7F9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297768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D6529-0614-230B-3EEF-18A269A7DB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>
                <a:ea typeface="Calibri"/>
                <a:cs typeface="Calibri"/>
              </a:rPr>
              <a:t>More Indepth Explanation</a:t>
            </a:r>
            <a:br>
              <a:rPr lang="en-US">
                <a:ea typeface="Calibri"/>
                <a:cs typeface="Calibri"/>
              </a:rPr>
            </a:br>
            <a:r>
              <a:rPr lang="en-US">
                <a:ea typeface="Calibri"/>
                <a:cs typeface="Calibri"/>
              </a:rPr>
              <a:t>(Better understanding of functionality)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3D5E1D-2C0D-4C3F-D1DE-4534A9FBE9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55000" lnSpcReduction="20000"/>
          </a:bodyPr>
          <a:lstStyle/>
          <a:p>
            <a:pPr marL="0" indent="0">
              <a:buNone/>
            </a:pPr>
            <a:r>
              <a:rPr lang="en-US" b="1">
                <a:ea typeface="+mn-lt"/>
                <a:cs typeface="+mn-lt"/>
              </a:rPr>
              <a:t>Initialization:</a:t>
            </a:r>
            <a:endParaRPr lang="en-US">
              <a:ea typeface="Calibri"/>
              <a:cs typeface="Calibri"/>
            </a:endParaRPr>
          </a:p>
          <a:p>
            <a:r>
              <a:rPr lang="en-US">
                <a:ea typeface="+mn-lt"/>
                <a:cs typeface="+mn-lt"/>
              </a:rPr>
              <a:t>Assign a tentative distance value to every vertex: </a:t>
            </a:r>
            <a:r>
              <a:rPr lang="en-US">
                <a:latin typeface="Consolas"/>
              </a:rPr>
              <a:t>0</a:t>
            </a:r>
            <a:r>
              <a:rPr lang="en-US">
                <a:ea typeface="+mn-lt"/>
                <a:cs typeface="+mn-lt"/>
              </a:rPr>
              <a:t> for the source, and </a:t>
            </a:r>
            <a:r>
              <a:rPr lang="en-US">
                <a:latin typeface="Consolas"/>
              </a:rPr>
              <a:t>∞</a:t>
            </a:r>
            <a:r>
              <a:rPr lang="en-US">
                <a:ea typeface="+mn-lt"/>
                <a:cs typeface="+mn-lt"/>
              </a:rPr>
              <a:t> (infinity) for all others.</a:t>
            </a:r>
            <a:endParaRPr lang="en-US"/>
          </a:p>
          <a:p>
            <a:r>
              <a:rPr lang="en-US">
                <a:ea typeface="+mn-lt"/>
                <a:cs typeface="+mn-lt"/>
              </a:rPr>
              <a:t>Mark all vertices as </a:t>
            </a:r>
            <a:r>
              <a:rPr lang="en-US" b="1">
                <a:ea typeface="+mn-lt"/>
                <a:cs typeface="+mn-lt"/>
              </a:rPr>
              <a:t>unvisited</a:t>
            </a:r>
            <a:r>
              <a:rPr lang="en-US">
                <a:ea typeface="+mn-lt"/>
                <a:cs typeface="+mn-lt"/>
              </a:rPr>
              <a:t>. Create a set of all unvisited vertices.</a:t>
            </a:r>
            <a:endParaRPr lang="en-US"/>
          </a:p>
          <a:p>
            <a:pPr marL="0" indent="0">
              <a:buNone/>
            </a:pPr>
            <a:r>
              <a:rPr lang="en-US" b="1">
                <a:ea typeface="+mn-lt"/>
                <a:cs typeface="+mn-lt"/>
              </a:rPr>
              <a:t>Main Loop:</a:t>
            </a:r>
            <a:endParaRPr lang="en-US">
              <a:ea typeface="Calibri"/>
              <a:cs typeface="Calibri"/>
            </a:endParaRPr>
          </a:p>
          <a:p>
            <a:r>
              <a:rPr lang="en-US">
                <a:ea typeface="+mn-lt"/>
                <a:cs typeface="+mn-lt"/>
              </a:rPr>
              <a:t>Select the </a:t>
            </a:r>
            <a:r>
              <a:rPr lang="en-US" b="1">
                <a:ea typeface="+mn-lt"/>
                <a:cs typeface="+mn-lt"/>
              </a:rPr>
              <a:t>unvisited vertex with the smallest tentative distance</a:t>
            </a:r>
            <a:r>
              <a:rPr lang="en-US">
                <a:ea typeface="+mn-lt"/>
                <a:cs typeface="+mn-lt"/>
              </a:rPr>
              <a:t> — this becomes the "current vertex".</a:t>
            </a:r>
            <a:endParaRPr lang="en-US"/>
          </a:p>
          <a:p>
            <a:r>
              <a:rPr lang="en-US">
                <a:ea typeface="+mn-lt"/>
                <a:cs typeface="+mn-lt"/>
              </a:rPr>
              <a:t>For the current vertex, consider all of its </a:t>
            </a:r>
            <a:r>
              <a:rPr lang="en-US" b="1">
                <a:ea typeface="+mn-lt"/>
                <a:cs typeface="+mn-lt"/>
              </a:rPr>
              <a:t>unvisited neighbors</a:t>
            </a:r>
            <a:r>
              <a:rPr lang="en-US">
                <a:ea typeface="+mn-lt"/>
                <a:cs typeface="+mn-lt"/>
              </a:rPr>
              <a:t>.</a:t>
            </a:r>
            <a:endParaRPr lang="en-US"/>
          </a:p>
          <a:p>
            <a:r>
              <a:rPr lang="en-US">
                <a:ea typeface="+mn-lt"/>
                <a:cs typeface="+mn-lt"/>
              </a:rPr>
              <a:t>Calculate their </a:t>
            </a:r>
            <a:r>
              <a:rPr lang="en-US" b="1">
                <a:ea typeface="+mn-lt"/>
                <a:cs typeface="+mn-lt"/>
              </a:rPr>
              <a:t>tentative distances</a:t>
            </a:r>
            <a:r>
              <a:rPr lang="en-US">
                <a:ea typeface="+mn-lt"/>
                <a:cs typeface="+mn-lt"/>
              </a:rPr>
              <a:t> via the current vertex, and if this new path is shorter than the current stored distance, </a:t>
            </a:r>
            <a:r>
              <a:rPr lang="en-US" b="1">
                <a:ea typeface="+mn-lt"/>
                <a:cs typeface="+mn-lt"/>
              </a:rPr>
              <a:t>update it</a:t>
            </a:r>
            <a:r>
              <a:rPr lang="en-US">
                <a:ea typeface="+mn-lt"/>
                <a:cs typeface="+mn-lt"/>
              </a:rPr>
              <a:t>.</a:t>
            </a:r>
            <a:endParaRPr lang="en-US"/>
          </a:p>
          <a:p>
            <a:r>
              <a:rPr lang="en-US">
                <a:ea typeface="+mn-lt"/>
                <a:cs typeface="+mn-lt"/>
              </a:rPr>
              <a:t>After considering all neighbors, mark the current vertex as </a:t>
            </a:r>
            <a:r>
              <a:rPr lang="en-US" b="1">
                <a:ea typeface="+mn-lt"/>
                <a:cs typeface="+mn-lt"/>
              </a:rPr>
              <a:t>visited</a:t>
            </a:r>
            <a:r>
              <a:rPr lang="en-US">
                <a:ea typeface="+mn-lt"/>
                <a:cs typeface="+mn-lt"/>
              </a:rPr>
              <a:t>. A visited vertex will not be checked again.</a:t>
            </a:r>
            <a:endParaRPr lang="en-US"/>
          </a:p>
          <a:p>
            <a:pPr marL="0" indent="0">
              <a:buNone/>
            </a:pPr>
            <a:r>
              <a:rPr lang="en-US" b="1">
                <a:ea typeface="+mn-lt"/>
                <a:cs typeface="+mn-lt"/>
              </a:rPr>
              <a:t>Repeat:</a:t>
            </a:r>
            <a:endParaRPr lang="en-US">
              <a:ea typeface="Calibri"/>
              <a:cs typeface="Calibri"/>
            </a:endParaRPr>
          </a:p>
          <a:p>
            <a:r>
              <a:rPr lang="en-US">
                <a:ea typeface="+mn-lt"/>
                <a:cs typeface="+mn-lt"/>
              </a:rPr>
              <a:t>Continue the loop until all vertices are visited or the smallest tentative distance among unvisited vertices is infinity (which happens when vertices are unreachable).</a:t>
            </a:r>
            <a:endParaRPr lang="en-US"/>
          </a:p>
          <a:p>
            <a:endParaRPr lang="en-US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435354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0A0230-300B-A464-5EDC-0877C0FAF3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en-US" sz="3400">
                <a:solidFill>
                  <a:srgbClr val="FFFFFF"/>
                </a:solidFill>
                <a:ea typeface="Calibri"/>
                <a:cs typeface="Calibri"/>
              </a:rPr>
              <a:t>Quick and Easy to Understand Example Algorithm</a:t>
            </a:r>
            <a:endParaRPr lang="en-US" sz="3400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918264-1F3A-2176-C4D2-64AFFD9144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>
                <a:ea typeface="Calibri"/>
                <a:cs typeface="Calibri"/>
              </a:rPr>
              <a:t>In the next few slides we will go over a simplified and very easy to understand example of Dijkstra's Algorithm</a:t>
            </a:r>
          </a:p>
          <a:p>
            <a:pPr marL="0" indent="0">
              <a:buNone/>
            </a:pPr>
            <a:r>
              <a:rPr lang="en-US">
                <a:ea typeface="Calibri"/>
                <a:cs typeface="Calibri"/>
              </a:rPr>
              <a:t>    I</a:t>
            </a:r>
          </a:p>
          <a:p>
            <a:pPr marL="0" indent="0">
              <a:buNone/>
            </a:pPr>
            <a:r>
              <a:rPr lang="en-US">
                <a:ea typeface="Calibri"/>
                <a:cs typeface="Calibri"/>
              </a:rPr>
              <a:t>    I</a:t>
            </a:r>
          </a:p>
          <a:p>
            <a:pPr marL="0" indent="0">
              <a:buNone/>
            </a:pPr>
            <a:r>
              <a:rPr lang="en-US">
                <a:ea typeface="Calibri"/>
                <a:cs typeface="Calibri"/>
              </a:rPr>
              <a:t>    I</a:t>
            </a:r>
          </a:p>
          <a:p>
            <a:pPr marL="0" indent="0">
              <a:buNone/>
            </a:pPr>
            <a:r>
              <a:rPr lang="en-US">
                <a:ea typeface="Calibri"/>
                <a:cs typeface="Calibri"/>
              </a:rPr>
              <a:t>    V</a:t>
            </a:r>
          </a:p>
        </p:txBody>
      </p:sp>
    </p:spTree>
    <p:extLst>
      <p:ext uri="{BB962C8B-B14F-4D97-AF65-F5344CB8AC3E}">
        <p14:creationId xmlns:p14="http://schemas.microsoft.com/office/powerpoint/2010/main" val="35324375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4F93BA1-B60D-1879-573E-F7EE974DE9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65628" y="916011"/>
            <a:ext cx="7412744" cy="5051315"/>
          </a:xfrm>
        </p:spPr>
      </p:pic>
    </p:spTree>
    <p:extLst>
      <p:ext uri="{BB962C8B-B14F-4D97-AF65-F5344CB8AC3E}">
        <p14:creationId xmlns:p14="http://schemas.microsoft.com/office/powerpoint/2010/main" val="18339046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E3A9EC9-3D27-C75D-C7B7-66B8031968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68306" y="840567"/>
            <a:ext cx="6607387" cy="5086813"/>
          </a:xfrm>
        </p:spPr>
      </p:pic>
    </p:spTree>
    <p:extLst>
      <p:ext uri="{BB962C8B-B14F-4D97-AF65-F5344CB8AC3E}">
        <p14:creationId xmlns:p14="http://schemas.microsoft.com/office/powerpoint/2010/main" val="13170116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screenshot of a whiteboard&#10;&#10;AI-generated content may be incorrect.">
            <a:extLst>
              <a:ext uri="{FF2B5EF4-FFF2-40B4-BE49-F238E27FC236}">
                <a16:creationId xmlns:a16="http://schemas.microsoft.com/office/drawing/2014/main" id="{018B3995-C8CD-9AB2-3B4C-DCBA8A60CA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2325" y="840567"/>
            <a:ext cx="6959350" cy="5143608"/>
          </a:xfrm>
        </p:spPr>
      </p:pic>
    </p:spTree>
    <p:extLst>
      <p:ext uri="{BB962C8B-B14F-4D97-AF65-F5344CB8AC3E}">
        <p14:creationId xmlns:p14="http://schemas.microsoft.com/office/powerpoint/2010/main" val="14100844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screenshot of a whiteboard with a diagram&#10;&#10;AI-generated content may be incorrect.">
            <a:extLst>
              <a:ext uri="{FF2B5EF4-FFF2-40B4-BE49-F238E27FC236}">
                <a16:creationId xmlns:a16="http://schemas.microsoft.com/office/drawing/2014/main" id="{F570246D-64F6-B721-DFB3-98B0E221C34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44105" y="762474"/>
            <a:ext cx="7055789" cy="5271397"/>
          </a:xfrm>
        </p:spPr>
      </p:pic>
    </p:spTree>
    <p:extLst>
      <p:ext uri="{BB962C8B-B14F-4D97-AF65-F5344CB8AC3E}">
        <p14:creationId xmlns:p14="http://schemas.microsoft.com/office/powerpoint/2010/main" val="17604175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screenshot of a whiteboard with a diagram&#10;&#10;AI-generated content may be incorrect.">
            <a:extLst>
              <a:ext uri="{FF2B5EF4-FFF2-40B4-BE49-F238E27FC236}">
                <a16:creationId xmlns:a16="http://schemas.microsoft.com/office/drawing/2014/main" id="{1FAD3965-7EF9-9486-7872-66B2BFFEA61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3826" y="677281"/>
            <a:ext cx="8116347" cy="5519875"/>
          </a:xfrm>
        </p:spPr>
      </p:pic>
    </p:spTree>
    <p:extLst>
      <p:ext uri="{BB962C8B-B14F-4D97-AF65-F5344CB8AC3E}">
        <p14:creationId xmlns:p14="http://schemas.microsoft.com/office/powerpoint/2010/main" val="31303677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whiteboard with text and colorful circles and numbers&#10;&#10;AI-generated content may be incorrect.">
            <a:extLst>
              <a:ext uri="{FF2B5EF4-FFF2-40B4-BE49-F238E27FC236}">
                <a16:creationId xmlns:a16="http://schemas.microsoft.com/office/drawing/2014/main" id="{B0144ADF-71B5-C61E-1222-55D490AE27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763460"/>
            <a:ext cx="8229600" cy="5347518"/>
          </a:xfrm>
        </p:spPr>
      </p:pic>
    </p:spTree>
    <p:extLst>
      <p:ext uri="{BB962C8B-B14F-4D97-AF65-F5344CB8AC3E}">
        <p14:creationId xmlns:p14="http://schemas.microsoft.com/office/powerpoint/2010/main" val="38485975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Code Implementation </a:t>
            </a:r>
            <a:r>
              <a:rPr lang="en-US"/>
              <a:t>Structure</a:t>
            </a:r>
            <a:endParaRPr err="1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B1E9ABD-5BDE-07F0-E6E0-38BC75F0FD4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84943389"/>
              </p:ext>
            </p:extLst>
          </p:nvPr>
        </p:nvGraphicFramePr>
        <p:xfrm>
          <a:off x="457200" y="1415616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9143771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9260" y="3426584"/>
            <a:ext cx="3604497" cy="1297115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Live Demo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60928" y="2587751"/>
            <a:ext cx="3604268" cy="838831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0" indent="0" defTabSz="91440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700" kern="1200">
                <a:solidFill>
                  <a:schemeClr val="tx2"/>
                </a:solidFill>
                <a:latin typeface="+mn-lt"/>
                <a:ea typeface="+mn-ea"/>
                <a:cs typeface="+mn-cs"/>
              </a:rPr>
              <a:t>Now we will do a quick Live demo of our code to show its functionality and output!</a:t>
            </a:r>
          </a:p>
        </p:txBody>
      </p:sp>
      <p:pic>
        <p:nvPicPr>
          <p:cNvPr id="7" name="Graphic 6" descr="Monitor">
            <a:extLst>
              <a:ext uri="{FF2B5EF4-FFF2-40B4-BE49-F238E27FC236}">
                <a16:creationId xmlns:a16="http://schemas.microsoft.com/office/drawing/2014/main" id="{21D8F537-945D-C6CF-D85D-26EAF75F6F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3640" y="1985568"/>
            <a:ext cx="3106320" cy="310632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189" y="-5977"/>
            <a:ext cx="4679005" cy="6863979"/>
            <a:chOff x="305" y="-5977"/>
            <a:chExt cx="6238675" cy="6863979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" y="-5705"/>
            <a:ext cx="9143993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7638" y="637762"/>
            <a:ext cx="7416372" cy="900131"/>
          </a:xfrm>
        </p:spPr>
        <p:txBody>
          <a:bodyPr anchor="t">
            <a:normAutofit/>
          </a:bodyPr>
          <a:lstStyle/>
          <a:p>
            <a:pPr algn="l"/>
            <a:r>
              <a:rPr lang="en-US" sz="3500">
                <a:solidFill>
                  <a:schemeClr val="bg1"/>
                </a:solidFill>
              </a:rPr>
              <a:t>Graph 1: Results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9143992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7638" y="2010758"/>
            <a:ext cx="342892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6661" y="2217343"/>
            <a:ext cx="7410669" cy="3959619"/>
          </a:xfrm>
        </p:spPr>
        <p:txBody>
          <a:bodyPr>
            <a:normAutofit/>
          </a:bodyPr>
          <a:lstStyle/>
          <a:p>
            <a:endParaRPr lang="en-US" sz="2100"/>
          </a:p>
          <a:p>
            <a:r>
              <a:rPr lang="en-US" sz="2100"/>
              <a:t>Vertices: 1 through 6</a:t>
            </a:r>
          </a:p>
          <a:p>
            <a:r>
              <a:rPr lang="en-US" sz="2100"/>
              <a:t>Edges with weights like (1-2: 7), (3-6: 2), etc.</a:t>
            </a:r>
          </a:p>
          <a:p>
            <a:r>
              <a:rPr lang="en-US" sz="2100"/>
              <a:t>Shortest path from 1 to 5: 1 -&gt; 3 -&gt; 6 -&gt; 5</a:t>
            </a:r>
          </a:p>
          <a:p>
            <a:r>
              <a:rPr lang="en-US" sz="2100"/>
              <a:t>Total Distance: 20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" y="-5705"/>
            <a:ext cx="9143993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7638" y="637762"/>
            <a:ext cx="7416372" cy="900131"/>
          </a:xfrm>
        </p:spPr>
        <p:txBody>
          <a:bodyPr anchor="t">
            <a:normAutofit/>
          </a:bodyPr>
          <a:lstStyle/>
          <a:p>
            <a:pPr algn="l"/>
            <a:r>
              <a:rPr lang="en-US" sz="3500">
                <a:solidFill>
                  <a:schemeClr val="bg1"/>
                </a:solidFill>
              </a:rPr>
              <a:t>Graph 2: Results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9143992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7638" y="2010758"/>
            <a:ext cx="342892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6661" y="2217343"/>
            <a:ext cx="7410669" cy="3959619"/>
          </a:xfrm>
        </p:spPr>
        <p:txBody>
          <a:bodyPr>
            <a:normAutofit/>
          </a:bodyPr>
          <a:lstStyle/>
          <a:p>
            <a:endParaRPr lang="en-US" sz="2100"/>
          </a:p>
          <a:p>
            <a:r>
              <a:rPr lang="en-US" sz="2100"/>
              <a:t>Campus buildings: BSN, LIB, ENB, etc.</a:t>
            </a:r>
          </a:p>
          <a:p>
            <a:r>
              <a:rPr lang="en-US" sz="2100"/>
              <a:t>Path from ENB to SUN: Distance = 2885</a:t>
            </a:r>
          </a:p>
          <a:p>
            <a:r>
              <a:rPr lang="en-US" sz="2100"/>
              <a:t>Path from LIB to CAS: Distance = 1532</a:t>
            </a:r>
          </a:p>
          <a:p>
            <a:r>
              <a:rPr lang="en-US" sz="2100"/>
              <a:t>Graph used real-world weighted examples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6DA78A-FBD3-CABF-D427-8E3BF0C7B3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Conclusion </a:t>
            </a:r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EFADE36-9B8C-61C4-877C-DDEC66773621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463391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98382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/>
              <a:t>Thank you for your time and attention!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en-US">
              <a:ea typeface="Calibri"/>
              <a:cs typeface="Calibri"/>
            </a:endParaRPr>
          </a:p>
          <a:p>
            <a:endParaRPr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(4:3)</PresentationFormat>
  <Slides>19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Office Theme</vt:lpstr>
      <vt:lpstr>Dijkstra's Algorithm - Graph Shortest Path</vt:lpstr>
      <vt:lpstr>Overview</vt:lpstr>
      <vt:lpstr>Our Project Algorithm Will Achieve</vt:lpstr>
      <vt:lpstr>Graph ADT Design</vt:lpstr>
      <vt:lpstr>What is Dijkstra’s Algorithm? (Simplified) </vt:lpstr>
      <vt:lpstr>More Indepth Explanation (Better understanding of functionality)</vt:lpstr>
      <vt:lpstr>Quick and Easy to Understand Example Algorithm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Code Implementation Structure</vt:lpstr>
      <vt:lpstr>Live Demo </vt:lpstr>
      <vt:lpstr>Graph 1: Results</vt:lpstr>
      <vt:lpstr>Graph 2: Results</vt:lpstr>
      <vt:lpstr>Conclusion </vt:lpstr>
      <vt:lpstr>Thank you for your time and attention!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revision>3</cp:revision>
  <dcterms:created xsi:type="dcterms:W3CDTF">2013-01-27T09:14:16Z</dcterms:created>
  <dcterms:modified xsi:type="dcterms:W3CDTF">2025-04-20T03:15:55Z</dcterms:modified>
  <cp:category/>
</cp:coreProperties>
</file>